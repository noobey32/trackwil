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tion" id="{40c43c1e-851f-8b78-cf0b-51cfda48a923}">
          <p14:sldIdLst>
            <p14:sldId id="256"/>
            <p14:sldId id="257"/>
            <p14:sldId id="258"/>
            <p14:sldId id="259"/>
            <p14:sldId id="260"/>
            <p14:sldId id="261"/>
            <p14:sldId id="262"/>
            <p14:sldId id="263"/>
            <p14:sldId id="264"/>
            <p14:sldId id="265"/>
            <p14:sldId id="266"/>
            <p14:sldId id="267"/>
          </p14:sldIdLst>
        </p14:section>
        <p14:section name="Backup" id="{7e9855a3-dc16-2993-974a-4954a3523b10}">
          <p14:sldIdLst>
            <p14:sldId id="268"/>
            <p14:sldId id="269"/>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3B2E"/>
                </a:solidFill>
                <a:latin typeface="+mn-lt"/>
              </a:defRPr>
            </a:pPr>
            <a:r>
              <a:rPr sz="1400" b="0" i="0" u="none" strike="noStrike">
                <a:solidFill>
                  <a:srgbClr val="0E3B2E"/>
                </a:solidFill>
                <a:latin typeface="+mn-lt"/>
              </a:rPr>
              <a:t>Average response time (ms), 10 runs per page</a:t>
            </a:r>
          </a:p>
        </c:rich>
      </c:tx>
      <c:layout/>
      <c:overlay val="0"/>
    </c:title>
    <c:autoTitleDeleted val="0"/>
    <c:plotArea>
      <c:layout/>
      <c:barChart>
        <c:barDir val="bar"/>
        <c:grouping val="clustered"/>
        <c:varyColors val="0"/>
        <c:ser>
          <c:idx val="0"/>
          <c:order val="0"/>
          <c:tx>
            <c:strRef>
              <c:f>Sheet1!$B$1</c:f>
              <c:strCache>
                <c:ptCount val="1"/>
                <c:pt idx="0">
                  <c:v>Average (ms)</c:v>
                </c:pt>
              </c:strCache>
            </c:strRef>
          </c:tx>
          <c:spPr>
            <a:solidFill>
              <a:srgbClr val="0B7A55"/>
            </a:solidFill>
            <a:effectLst/>
          </c:spPr>
          <c:invertIfNegative val="0"/>
          <c:dLbls>
            <c:numFmt formatCode="#,##0" sourceLinked="0"/>
            <c:txPr>
              <a:bodyPr/>
              <a:lstStyle/>
              <a:p>
                <a:pPr>
                  <a:defRPr b="0" i="0" strike="noStrike" sz="1100" u="none">
                    <a:solidFill>
                      <a:srgbClr val="1C2B25"/>
                    </a:solidFill>
                    <a:latin typeface="+mn-lt"/>
                  </a:defRPr>
                </a:pPr>
              </a:p>
            </c:txPr>
            <c:showLegendKey val="0"/>
            <c:showVal val="1"/>
            <c:showCatName val="0"/>
            <c:showSerName val="0"/>
            <c:showPercent val="0"/>
            <c:showBubbleSize val="0"/>
            <c:showLeaderLines val="0"/>
          </c:dLbls>
          <c:cat>
            <c:multiLvlStrRef>
              <c:f>Sheet1!$A$2:$A$9</c:f>
              <c:multiLvlStrCache>
                <c:ptCount val="8"/>
                <c:lvl>
                  <c:pt idx="0">
                    <c:v>Create an entry</c:v>
                  </c:pt>
                  <c:pt idx="1">
                    <c:v>Mentor verification</c:v>
                  </c:pt>
                  <c:pt idx="2">
                    <c:v>Student profile</c:v>
                  </c:pt>
                  <c:pt idx="3">
                    <c:v>Coordinator dashboard</c:v>
                  </c:pt>
                  <c:pt idx="4">
                    <c:v>New entry form</c:v>
                  </c:pt>
                  <c:pt idx="5">
                    <c:v>Placement logbook</c:v>
                  </c:pt>
                  <c:pt idx="6">
                    <c:v>Student placements</c:v>
                  </c:pt>
                  <c:pt idx="7">
                    <c:v>Sign-in page</c:v>
                  </c:pt>
                </c:lvl>
              </c:multiLvlStrCache>
            </c:multiLvlStrRef>
          </c:cat>
          <c:val>
            <c:numRef>
              <c:f>Sheet1!$B$2:$B$9</c:f>
              <c:numCache>
                <c:formatCode>General</c:formatCode>
                <c:ptCount val="8"/>
                <c:pt idx="0">
                  <c:v>10</c:v>
                </c:pt>
                <c:pt idx="1">
                  <c:v>3</c:v>
                </c:pt>
                <c:pt idx="2">
                  <c:v>5</c:v>
                </c:pt>
                <c:pt idx="3">
                  <c:v>5</c:v>
                </c:pt>
                <c:pt idx="4">
                  <c:v>4</c:v>
                </c:pt>
                <c:pt idx="5">
                  <c:v>5</c:v>
                </c:pt>
                <c:pt idx="6">
                  <c:v>4</c:v>
                </c:pt>
                <c:pt idx="7">
                  <c:v>3</c:v>
                </c:pt>
              </c:numCache>
            </c:numRef>
          </c:val>
        </c:ser>
        <c:dLbls>
          <c:numFmt formatCode="#,##0" sourceLinked="0"/>
          <c:txPr>
            <a:bodyPr/>
            <a:lstStyle/>
            <a:p>
              <a:pPr>
                <a:defRPr b="0" i="0" strike="noStrike" sz="1100" u="none">
                  <a:solidFill>
                    <a:srgbClr val="1C2B25"/>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F6B66"/>
                </a:solidFill>
                <a:latin typeface="+mn-lt"/>
              </a:defRPr>
            </a:pPr>
            <a:endParaRPr lang="en-US"/>
          </a:p>
        </c:txPr>
        <c:crossAx val="2094734552"/>
        <c:crosses val="autoZero"/>
        <c:auto val="1"/>
        <c:lblAlgn val="ctr"/>
        <c:noMultiLvlLbl val="1"/>
      </c:catAx>
      <c:valAx>
        <c:axId val="2094734552"/>
        <c:scaling>
          <c:orientation val="minMax"/>
          <c:max val="12"/>
        </c:scaling>
        <c:delete val="0"/>
        <c:axPos val="b"/>
        <c:majorGridlines>
          <c:spPr>
            <a:ln w="9525" cap="flat">
              <a:solidFill>
                <a:srgbClr val="D5E3D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F6B66"/>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GEDION (0:30)
Good afternoon, Ms Raganya and members of the panel. We are Group 3 from the Cape campus: Dylan Shepard, Moegammad Green, Sihle Kayise, and I am Gedion Basson.
We built TrackWIL, a web application that replaces paper and email Work-Integrated Learning logbooks. Students record their daily work and keep their WIL documents for each placement. Workplace mentors verify that work from a link, without needing an account. Coordinators and lecturers can see straight away who is on track and who is falling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GEDION (1:00)
Today, a WIL student completes a daily document, sends it to their workplace mentor to sign, and then waits for it to come back. This happens by email, on paper or as separate PDF files.
That causes three problems. First, documents get lost, deleted or returned late. Second, sign-offs are slow, so the student's record falls behind. Third, coordinators and lecturers have no live view of progress. To find out who is behind, they have to chase each student.
Four groups are affected. Students, who must keep track of every document. Coordinators, who must check many students' records. Lecturers, who need to know who is falling behind. And workplace mentors, who are busy staff at a host company, not CTU employees. Asking them to sign forms or create yet another account adds work and causes more delay.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GEDION (1:00)
Our aim was to design, develop and evaluate TrackWIL: a central web application where students record daily work and evidence, mentors verify it through a secure link, and staff monitor progress.
We set five objectives. One: analyse the current process and its challenges. Two: design a logbook where mentors verify each entry through a one-time link with no account. Three: develop the student logbook, the mentor page and a shared staff dashboard. Four: store every entry in a database with its status and timestamps. Five: test and evaluate the system against its requirements.
Each objective is linked to one research question. For example, objective two asks how a one-time link can improve verification, and objective five asks to what extent TrackWIL meets its requirements. We will come back to these in the conclusion.
Dylan will now show what already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DYLAN (1:00)
Thank you, Gedion. Before we built anything, we looked at what already exists. We compared three systems from their public product information.
InPlace is a full placement-management platform. It handles placements, timesheets, compliance and reporting across a whole institution.
Sonia Online is a placement system that keeps placement information and paperwork for students and host organisations in one place.
Mahara and PebblePad are ePortfolio tools. They are strong at collecting evidence and letting assessors review it.
So the gap is not that no digital tools exist. These systems are broad and set up by the institution, and the mentor usually needs an account. Our gap is a focused, lightweight workflow: students log each day's work with evidence, a mentor outside the institution verifies it without creating an account, and staff see who is behind in one view.
Sihle will now take you through how we turned that into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SIHLE (1:00)
Thank you, Dylan. From that gap we wrote eighteen functional requirements and seven measurable non-functional requirements, each with a priority and a way to test it.
The functional requirements cover sign-up and role-based access, WIL placements with their own required hours, daily entries with evidence, the WIL documents, the one-time mentor link, the staff dashboard, student profiles, and locking a placement once its hours are complete.
The non-functional requirements are measurable. For example: every page must load within 2 seconds, passwords are stored only as salted hashes, and the system must work on a 375-pixel phone screen.
For the method, we used a hybrid Agile approach based on Scrum. We ran four one-week sprints, each ending on a Friday submission date, so every submission acted as a sprint review with our supervisor. We rejected Waterfall because our requirements kept changing and it would have left all testing until the end.
Moe will now take you through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MOE (1:30)
Thank you, Sihle. Here is how we designed TrackWIL.
First, the architecture. TrackWIL is a single Next.js application written in TypeScript, in three layers. The pages show the screens. The server actions handle every form and check the user's role on the server. The repository layer is the only part that talks to the database. Because it runs as one application with a local database, it needs no network during the demo.
Second, the database. We use SQLite with five tables: users; WIL placements, so a student can have more than one placement, each with its own required hours; logbook entries; verification tokens; and placement documents. Constraints in the database reject bad data, such as an unknown status or more than 24 hours in a day.
Third, the verification sequence, which is the heart of the system. When a student submits an entry, the server creates a long random token and gives the student a link. The link is valid for seven days and can be used only once. When the mentor clicks Approve or Reject, the status change and the use of the token are saved in one transaction. So either both are saved, or neither is. A used or expired link changes nothing.
Now let me show you it working.
(Full ERD and sequence diagram are on the backup slides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(5:00) - MOE then GEDION
Before: npm run db:reset, npm run build, npm start; open http://localhost:3000 in a normal window and a private window.
MOE: "I will sign in as a student, Sihle, using our synthetic demo data. Everything you will see runs on this laptop."
- student2@ctucareer.co.za / student123, open WIL 1 (6 of 200 verified hours)
- Upload a PDF as the Commencement Letter; show a non-PDF is refused
- New entry: today, short description, 6 hours, mentor@host.co.za, attach a PDF -&gt; Draft
- Try 30 hours: "Hours for one day cannot be more than 24."
- Submit for verification, Copy link
MOE: "The student has copied the link. Gedion will now play the workplace mentor."
GEDION: "Thanks, Moe. I am now the workplace mentor. I have no account. I just open the link the student sent me."
- Paste link in the private window, Approve, refresh: "This link was already used (approved)."
MOE: back in the student window, WIL 1 shows Verified, 12 of 200 hours
GEDION: sign in as lecturer@ctucareer.co.za / lecturer123; dashboard statuses; click Sihle Kayise -&gt; profile
(If time) MOE: student3@ctucareer.co.za / student123 -&gt; Lerato's WIL completed and locked
GEDION to close: "That is the full journey, from a student's entry to the mentor's approval to the lecturer's dashboard. Dylan will now show how we tested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DYLAN (1:30)
Thank you, Moe and Gedion. You have just seen the system working. Now I will show you how we know it works.
We followed a written test plan and recorded 81 test cases in our Test Cases and Results workbook. 80 passed, none failed, and one is blocked: the timed usability test with real students, which needs written campus permission first.
We combined manual testing with an automated test suite. The script sends the same requests as the browser and then checks both the response and the database. It covers every functional requirement, the security rules, the database constraints and response times. In the final regression run, on Next.js 16.4.3, all 62 automated tests passed.
For performance, our target was 2 seconds per page. We loaded each main page ten times, and the average was between 3 and 5 milliseconds on the test computer.
For compatibility, every main screen works in Chrome and Edge, and on a 375-pixel phone screen. That matters most for the mentor page, because mentors usually open the link on their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DYLAN (1:00)
Testing also found real problems. Here are the four most important.
DEF-01 was critical. The session cookie held the user ID without a signature, so anyone could edit the cookie and open the coordinator dashboard without a password. We now sign the cookie, and a test checks that forged cookies are rejected.
DEF-07 was also critical. A blocked page redirected the browser, but the page data was still sent in the redirect response. We now check the role on the server on every page, and the tests check that the data is not in the response.
DEF-02: an entry whose mentor link had expired could never be resubmitted. Now the student can resubmit it.
DEF-03: on a phone, the tables cut off columns. That is fixed and retested in Chrome and Edge.
The lesson for us is that every functional test passed before DEF-01 was fixed. Security has to be tested on its own. Sihle will now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SIHLE (1:00)
Thank you, Dylan. To conclude.
All eighteen functional requirements are met, and six of the seven non-functional requirements are met. Objectives one to four are achieved, and objective five is largely achieved.
We are honest about our limitations. We tested only with synthetic data, because we may not use real student data before written campus permission is granted. For the same reason, usability with real users has not been measured yet. And our response times were measured locally, not on a hosted server.
For future work, we would add written mentor feedback, coordinator review of uploaded documents, email notifications, secure mentor access to evidence, and a hosted deployment with HTTPS.
In short, TrackWIL shows that a small, focused web application can replace paper and email logbooks with a secure, traceable workflow. Our main contribution is account-free mentor verification combined with automatic progress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(0:30) - one sentence each, in this order
GEDION: I am Gedion Basson, the group lead. I wrote the proposal and the SRS, moved the data to an SQLite database, fixed the security defects, wrote the automated tests, and compiled our submissions.
MOE: I am Moegammad Green, the development lead. I set up the repository and built the Next.js application: sign-in, the logbook, mentor verification and the dashboard. I also drew the system design diagrams.
DYLAN: I am Dylan Shepard, the QA and testing lead. I wrote the literature review and the reference list, and I led the test plan and the document reviews.
SIHLE: I am Sihle Kayise. I drafted Chapters 1 and 3, wrote the first test plan and Chapter 5 draft, and ran the manual test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SIHLE: That brings us to the end of our presentation. Thank you for your time. We are happy to take your questions.
Each member answers questions on their own work. Backup slides with screenshots and the full diagrams follow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backup: Sihle's WIL 1 logbook (6 of 200 hours, documents) and the entry pending verification with its 7-day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backup: the mentor page from the link, and the message when the link is opened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backup: dashboard statuses (On track, Awaiting verification, Overdue, WIL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backup: the student profile a coordinator or lecturer opens, and a completed, locked 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tables: users, wil_placements, logbook_entries, verification_tokens, placement_documents.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 created and entry updated in one transaction; on approval the token is marked used only if it is still unused.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TrackWIL  ·  Group 3  ·  SPM622</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indent="0" marL="0">
              <a:buNone/>
              <a:defRPr lang="en-US" sz="3400" b="1" dirty="0">
                <a:solidFill>
                  <a:schemeClr val="tx2"/>
                </a:solidFill>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dark">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TrackWIL  ·  Group 3  ·  SPM622</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Noobey32/TrackWIL" TargetMode="External"/><Relationship Id="rId1"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4.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5" Type="http://schemas.openxmlformats.org/officeDocument/2006/relationships/hyperlink" Target="https://github.com/Noobey32/TrackWIL" TargetMode="External"/><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Noobey32/TrackWIL" TargetMode="External"/><Relationship Id="rId1" Type="http://schemas.openxmlformats.org/officeDocument/2006/relationships/image" Target="../media/image-12-1.png"/><Relationship Id="rId3" Type="http://schemas.openxmlformats.org/officeDocument/2006/relationships/image" Target="../media/image-12-2.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822960"/>
            <a:ext cx="6400800" cy="320040"/>
          </a:xfrm>
          <a:prstGeom prst="rect">
            <a:avLst/>
          </a:prstGeom>
          <a:noFill/>
          <a:ln/>
        </p:spPr>
        <p:txBody>
          <a:bodyPr wrap="square" lIns="0" tIns="0" rIns="0" bIns="0" rtlCol="0" anchor="t"/>
          <a:lstStyle/>
          <a:p>
            <a:pPr indent="0" marL="0">
              <a:buNone/>
            </a:pPr>
            <a:r>
              <a:rPr lang="en-US" sz="1300" b="1" spc="200" kern="0" dirty="0">
                <a:solidFill>
                  <a:schemeClr val="accent6"/>
                </a:solidFill>
              </a:rPr>
              <a:t>GROUP 3  ·  CAPE CAMPUS  ·  SPM622 SOFTWARE ENGINEERING 2</a:t>
            </a:r>
            <a:endParaRPr lang="en-US" sz="1300" dirty="0"/>
          </a:p>
        </p:txBody>
      </p:sp>
      <p:sp>
        <p:nvSpPr>
          <p:cNvPr id="3" name="Text 1"/>
          <p:cNvSpPr txBox="1"/>
          <p:nvPr/>
        </p:nvSpPr>
        <p:spPr>
          <a:xfrm>
            <a:off x="548640" y="1325880"/>
            <a:ext cx="6400800" cy="1097280"/>
          </a:xfrm>
          <a:prstGeom prst="rect">
            <a:avLst/>
          </a:prstGeom>
          <a:noFill/>
          <a:ln/>
        </p:spPr>
        <p:txBody>
          <a:bodyPr wrap="square" lIns="0" tIns="0" rIns="0" bIns="0" rtlCol="0" anchor="t"/>
          <a:lstStyle/>
          <a:p>
            <a:pPr indent="0" marL="0">
              <a:buNone/>
            </a:pPr>
            <a:r>
              <a:rPr lang="en-US" sz="6600" b="1" dirty="0">
                <a:solidFill>
                  <a:schemeClr val="bg1"/>
                </a:solidFill>
              </a:rPr>
              <a:t>TrackWIL</a:t>
            </a:r>
            <a:endParaRPr lang="en-US" sz="6600" dirty="0"/>
          </a:p>
        </p:txBody>
      </p:sp>
      <p:sp>
        <p:nvSpPr>
          <p:cNvPr id="4" name="Text 2"/>
          <p:cNvSpPr txBox="1"/>
          <p:nvPr/>
        </p:nvSpPr>
        <p:spPr>
          <a:xfrm>
            <a:off x="548640" y="2514600"/>
            <a:ext cx="5760720" cy="914400"/>
          </a:xfrm>
          <a:prstGeom prst="rect">
            <a:avLst/>
          </a:prstGeom>
          <a:noFill/>
          <a:ln/>
        </p:spPr>
        <p:txBody>
          <a:bodyPr wrap="square" lIns="0" tIns="0" rIns="0" bIns="0" rtlCol="0" anchor="t"/>
          <a:lstStyle/>
          <a:p>
            <a:pPr indent="0" marL="0">
              <a:buNone/>
            </a:pPr>
            <a:r>
              <a:rPr lang="en-US" sz="2200" dirty="0">
                <a:solidFill>
                  <a:schemeClr val="bg1"/>
                </a:solidFill>
              </a:rPr>
              <a:t>Work-Integrated Learning logbooks, verified by workplace mentors without an account</a:t>
            </a:r>
            <a:endParaRPr lang="en-US" sz="2200" dirty="0"/>
          </a:p>
        </p:txBody>
      </p:sp>
      <p:sp>
        <p:nvSpPr>
          <p:cNvPr id="5" name="Text 3"/>
          <p:cNvSpPr txBox="1"/>
          <p:nvPr/>
        </p:nvSpPr>
        <p:spPr>
          <a:xfrm>
            <a:off x="548640" y="3886200"/>
            <a:ext cx="5943600" cy="685800"/>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Willem (Gedion) Basson  ·  Moegammad Green</a:t>
            </a:r>
            <a:endParaRPr lang="en-US" sz="1700" dirty="0"/>
          </a:p>
          <a:p>
            <a:pPr indent="0" marL="0">
              <a:spcAft>
                <a:spcPts val="400"/>
              </a:spcAft>
              <a:buNone/>
            </a:pPr>
            <a:r>
              <a:rPr lang="en-US" sz="1700" b="1" dirty="0">
                <a:solidFill>
                  <a:schemeClr val="bg1"/>
                </a:solidFill>
              </a:rPr>
              <a:t>Dylan Shepard  ·  Sihle Kayise</a:t>
            </a:r>
            <a:endParaRPr lang="en-US" sz="1700" dirty="0"/>
          </a:p>
        </p:txBody>
      </p:sp>
      <p:sp>
        <p:nvSpPr>
          <p:cNvPr id="6" name="Text 4"/>
          <p:cNvSpPr txBox="1"/>
          <p:nvPr/>
        </p:nvSpPr>
        <p:spPr>
          <a:xfrm>
            <a:off x="548640" y="4709160"/>
            <a:ext cx="5943600" cy="320040"/>
          </a:xfrm>
          <a:prstGeom prst="rect">
            <a:avLst/>
          </a:prstGeom>
          <a:noFill/>
          <a:ln/>
        </p:spPr>
        <p:txBody>
          <a:bodyPr wrap="square" lIns="0" tIns="0" rIns="0" bIns="0" rtlCol="0" anchor="t"/>
          <a:lstStyle/>
          <a:p>
            <a:pPr indent="0" marL="0">
              <a:buNone/>
            </a:pPr>
            <a:r>
              <a:rPr lang="en-US" sz="1400" dirty="0">
                <a:solidFill>
                  <a:schemeClr val="accent6"/>
                </a:solidFill>
              </a:rPr>
              <a:t>Client and supervisor: Ms Amenda Raganya  ·  29 October 2026</a:t>
            </a:r>
            <a:endParaRPr lang="en-US" sz="1400" dirty="0"/>
          </a:p>
        </p:txBody>
      </p:sp>
      <p:pic>
        <p:nvPicPr>
          <p:cNvPr id="7" name="Image 0" descr="preencoded.png">    </p:cNvPr>
          <p:cNvPicPr>
            <a:picLocks noChangeAspect="1"/>
          </p:cNvPicPr>
          <p:nvPr/>
        </p:nvPicPr>
        <p:blipFill>
          <a:blip r:embed="rId1"/>
          <a:stretch>
            <a:fillRect/>
          </a:stretch>
        </p:blipFill>
        <p:spPr>
          <a:xfrm>
            <a:off x="548640" y="5349240"/>
            <a:ext cx="292608" cy="292608"/>
          </a:xfrm>
          <a:prstGeom prst="rect">
            <a:avLst/>
          </a:prstGeom>
        </p:spPr>
      </p:pic>
      <p:sp>
        <p:nvSpPr>
          <p:cNvPr id="8" name="Text 5">
            <a:hlinkClick r:id="rId2" tooltip=""/>
          </p:cNvPr>
          <p:cNvSpPr txBox="1"/>
          <p:nvPr/>
        </p:nvSpPr>
        <p:spPr>
          <a:xfrm>
            <a:off x="960120" y="5349240"/>
            <a:ext cx="4572000" cy="292608"/>
          </a:xfrm>
          <a:prstGeom prst="rect">
            <a:avLst/>
          </a:prstGeom>
          <a:noFill/>
          <a:ln/>
        </p:spPr>
        <p:txBody>
          <a:bodyPr wrap="square" lIns="0" tIns="0" rIns="0" bIns="0" rtlCol="0" anchor="ctr"/>
          <a:lstStyle/>
          <a:p>
            <a:pPr indent="0" marL="0">
              <a:buNone/>
            </a:pPr>
            <a:r>
              <a:rPr lang="en-US" sz="1400" u="sng" dirty="0">
                <a:solidFill>
                  <a:schemeClr val="bg1"/>
                </a:solidFill>
                <a:hlinkClick r:id="rId2" invalidUrl="" action="" tgtFrame="" tooltip="" history="1" highlightClick="0" endSnd="0">
                  <a:extLst>
                    <a:ext uri="{A12FA001-AC4F-418D-AE19-62706E023703}">
                      <ahyp:hlinkClr xmlns:ahyp="http://schemas.microsoft.com/office/drawing/2018/hyperlinkcolor" val="tx"/>
                    </a:ext>
                  </a:extLst>
                </a:hlinkClick>
              </a:rPr>
              <a:t>github.com/Noobey32/TrackWIL</a:t>
            </a:r>
            <a:endParaRPr lang="en-US" sz="1400" dirty="0"/>
          </a:p>
        </p:txBody>
      </p:sp>
      <p:sp>
        <p:nvSpPr>
          <p:cNvPr id="9" name="Shape 6"/>
          <p:cNvSpPr/>
          <p:nvPr/>
        </p:nvSpPr>
        <p:spPr>
          <a:xfrm>
            <a:off x="7242048" y="1069848"/>
            <a:ext cx="4443984" cy="4020063"/>
          </a:xfrm>
          <a:prstGeom prst="roundRect">
            <a:avLst>
              <a:gd name="adj" fmla="val 2275"/>
            </a:avLst>
          </a:prstGeom>
          <a:solidFill>
            <a:schemeClr val="bg1"/>
          </a:solidFill>
          <a:ln w="12700">
            <a:solidFill>
              <a:srgbClr val="D5E3DB"/>
            </a:solidFill>
            <a:prstDash val="solid"/>
          </a:ln>
          <a:effectLst>
            <a:outerShdw sx="100000" sy="100000" kx="0" ky="0" algn="bl" rotWithShape="0" blurRad="101600" dist="25400" dir="5400000">
              <a:srgbClr val="000000">
                <a:alpha val="12000"/>
              </a:srgbClr>
            </a:outerShdw>
          </a:effectLst>
        </p:spPr>
      </p:sp>
      <p:pic>
        <p:nvPicPr>
          <p:cNvPr id="10" name="Image 1" descr="07_mentor_verify.png">    </p:cNvPr>
          <p:cNvPicPr>
            <a:picLocks noChangeAspect="1"/>
          </p:cNvPicPr>
          <p:nvPr/>
        </p:nvPicPr>
        <p:blipFill>
          <a:blip r:embed="rId3"/>
          <a:stretch>
            <a:fillRect/>
          </a:stretch>
        </p:blipFill>
        <p:spPr>
          <a:xfrm>
            <a:off x="7315200" y="1143000"/>
            <a:ext cx="4297680" cy="387375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rPr>
              <a:t>The problem: paper and email logbooks</a:t>
            </a:r>
            <a:endParaRPr lang="en-US" sz="3400" dirty="0"/>
          </a:p>
        </p:txBody>
      </p:sp>
      <p:sp>
        <p:nvSpPr>
          <p:cNvPr id="3" name="Shape 1"/>
          <p:cNvSpPr/>
          <p:nvPr/>
        </p:nvSpPr>
        <p:spPr>
          <a:xfrm>
            <a:off x="548640" y="1463040"/>
            <a:ext cx="777240" cy="77724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742950" y="1657350"/>
            <a:ext cx="388620" cy="388620"/>
          </a:xfrm>
          <a:prstGeom prst="rect">
            <a:avLst/>
          </a:prstGeom>
        </p:spPr>
      </p:pic>
      <p:sp>
        <p:nvSpPr>
          <p:cNvPr id="5" name="Text 2"/>
          <p:cNvSpPr txBox="1"/>
          <p:nvPr/>
        </p:nvSpPr>
        <p:spPr>
          <a:xfrm>
            <a:off x="1600200" y="1444752"/>
            <a:ext cx="5212080" cy="411480"/>
          </a:xfrm>
          <a:prstGeom prst="rect">
            <a:avLst/>
          </a:prstGeom>
          <a:noFill/>
          <a:ln/>
        </p:spPr>
        <p:txBody>
          <a:bodyPr wrap="square" lIns="0" tIns="0" rIns="0" bIns="0" rtlCol="0" anchor="t"/>
          <a:lstStyle/>
          <a:p>
            <a:pPr indent="0" marL="0">
              <a:buNone/>
            </a:pPr>
            <a:r>
              <a:rPr lang="en-US" sz="2100" b="1" dirty="0">
                <a:solidFill>
                  <a:schemeClr val="tx2"/>
                </a:solidFill>
              </a:rPr>
              <a:t>Documents get lost</a:t>
            </a:r>
            <a:endParaRPr lang="en-US" sz="2100" dirty="0"/>
          </a:p>
        </p:txBody>
      </p:sp>
      <p:sp>
        <p:nvSpPr>
          <p:cNvPr id="6" name="Text 3"/>
          <p:cNvSpPr txBox="1"/>
          <p:nvPr/>
        </p:nvSpPr>
        <p:spPr>
          <a:xfrm>
            <a:off x="1600200" y="1874520"/>
            <a:ext cx="5212080" cy="731520"/>
          </a:xfrm>
          <a:prstGeom prst="rect">
            <a:avLst/>
          </a:prstGeom>
          <a:noFill/>
          <a:ln/>
        </p:spPr>
        <p:txBody>
          <a:bodyPr wrap="square" lIns="0" tIns="0" rIns="0" bIns="0" rtlCol="0" anchor="t"/>
          <a:lstStyle/>
          <a:p>
            <a:pPr indent="0" marL="0">
              <a:buNone/>
            </a:pPr>
            <a:r>
              <a:rPr lang="en-US" sz="1600" dirty="0">
                <a:solidFill>
                  <a:schemeClr val="tx1"/>
                </a:solidFill>
              </a:rPr>
              <a:t>Daily forms travel by email, paper and PDF, and are misplaced, deleted or returned late.</a:t>
            </a:r>
            <a:endParaRPr lang="en-US" sz="1600" dirty="0"/>
          </a:p>
        </p:txBody>
      </p:sp>
      <p:sp>
        <p:nvSpPr>
          <p:cNvPr id="7" name="Shape 4"/>
          <p:cNvSpPr/>
          <p:nvPr/>
        </p:nvSpPr>
        <p:spPr>
          <a:xfrm>
            <a:off x="548640" y="2971800"/>
            <a:ext cx="777240" cy="777240"/>
          </a:xfrm>
          <a:prstGeom prst="ellipse">
            <a:avLst/>
          </a:prstGeom>
          <a:solidFill>
            <a:schemeClr val="accent1"/>
          </a:solidFill>
          <a:ln/>
        </p:spPr>
      </p:sp>
      <p:pic>
        <p:nvPicPr>
          <p:cNvPr id="8" name="Image 1" descr="preencoded.png">    </p:cNvPr>
          <p:cNvPicPr>
            <a:picLocks noChangeAspect="1"/>
          </p:cNvPicPr>
          <p:nvPr/>
        </p:nvPicPr>
        <p:blipFill>
          <a:blip r:embed="rId2"/>
          <a:stretch>
            <a:fillRect/>
          </a:stretch>
        </p:blipFill>
        <p:spPr>
          <a:xfrm>
            <a:off x="742950" y="3166110"/>
            <a:ext cx="388620" cy="388620"/>
          </a:xfrm>
          <a:prstGeom prst="rect">
            <a:avLst/>
          </a:prstGeom>
        </p:spPr>
      </p:pic>
      <p:sp>
        <p:nvSpPr>
          <p:cNvPr id="9" name="Text 5"/>
          <p:cNvSpPr txBox="1"/>
          <p:nvPr/>
        </p:nvSpPr>
        <p:spPr>
          <a:xfrm>
            <a:off x="1600200" y="2953512"/>
            <a:ext cx="5212080" cy="411480"/>
          </a:xfrm>
          <a:prstGeom prst="rect">
            <a:avLst/>
          </a:prstGeom>
          <a:noFill/>
          <a:ln/>
        </p:spPr>
        <p:txBody>
          <a:bodyPr wrap="square" lIns="0" tIns="0" rIns="0" bIns="0" rtlCol="0" anchor="t"/>
          <a:lstStyle/>
          <a:p>
            <a:pPr indent="0" marL="0">
              <a:buNone/>
            </a:pPr>
            <a:r>
              <a:rPr lang="en-US" sz="2100" b="1" dirty="0">
                <a:solidFill>
                  <a:schemeClr val="tx2"/>
                </a:solidFill>
              </a:rPr>
              <a:t>Sign-offs are slow</a:t>
            </a:r>
            <a:endParaRPr lang="en-US" sz="2100" dirty="0"/>
          </a:p>
        </p:txBody>
      </p:sp>
      <p:sp>
        <p:nvSpPr>
          <p:cNvPr id="10" name="Text 6"/>
          <p:cNvSpPr txBox="1"/>
          <p:nvPr/>
        </p:nvSpPr>
        <p:spPr>
          <a:xfrm>
            <a:off x="1600200" y="3383280"/>
            <a:ext cx="5212080" cy="731520"/>
          </a:xfrm>
          <a:prstGeom prst="rect">
            <a:avLst/>
          </a:prstGeom>
          <a:noFill/>
          <a:ln/>
        </p:spPr>
        <p:txBody>
          <a:bodyPr wrap="square" lIns="0" tIns="0" rIns="0" bIns="0" rtlCol="0" anchor="t"/>
          <a:lstStyle/>
          <a:p>
            <a:pPr indent="0" marL="0">
              <a:buNone/>
            </a:pPr>
            <a:r>
              <a:rPr lang="en-US" sz="1600" dirty="0">
                <a:solidFill>
                  <a:schemeClr val="tx1"/>
                </a:solidFill>
              </a:rPr>
              <a:t>Students wait for the mentor to sign each document and send it back.</a:t>
            </a:r>
            <a:endParaRPr lang="en-US" sz="1600" dirty="0"/>
          </a:p>
        </p:txBody>
      </p:sp>
      <p:sp>
        <p:nvSpPr>
          <p:cNvPr id="11" name="Shape 7"/>
          <p:cNvSpPr/>
          <p:nvPr/>
        </p:nvSpPr>
        <p:spPr>
          <a:xfrm>
            <a:off x="548640" y="4480560"/>
            <a:ext cx="777240" cy="777240"/>
          </a:xfrm>
          <a:prstGeom prst="ellipse">
            <a:avLst/>
          </a:prstGeom>
          <a:solidFill>
            <a:schemeClr val="accent3"/>
          </a:solidFill>
          <a:ln/>
        </p:spPr>
      </p:sp>
      <p:pic>
        <p:nvPicPr>
          <p:cNvPr id="12" name="Image 2" descr="preencoded.png">    </p:cNvPr>
          <p:cNvPicPr>
            <a:picLocks noChangeAspect="1"/>
          </p:cNvPicPr>
          <p:nvPr/>
        </p:nvPicPr>
        <p:blipFill>
          <a:blip r:embed="rId3"/>
          <a:stretch>
            <a:fillRect/>
          </a:stretch>
        </p:blipFill>
        <p:spPr>
          <a:xfrm>
            <a:off x="742950" y="4674870"/>
            <a:ext cx="388620" cy="388620"/>
          </a:xfrm>
          <a:prstGeom prst="rect">
            <a:avLst/>
          </a:prstGeom>
        </p:spPr>
      </p:pic>
      <p:sp>
        <p:nvSpPr>
          <p:cNvPr id="13" name="Text 8"/>
          <p:cNvSpPr txBox="1"/>
          <p:nvPr/>
        </p:nvSpPr>
        <p:spPr>
          <a:xfrm>
            <a:off x="1600200" y="4462272"/>
            <a:ext cx="5212080" cy="411480"/>
          </a:xfrm>
          <a:prstGeom prst="rect">
            <a:avLst/>
          </a:prstGeom>
          <a:noFill/>
          <a:ln/>
        </p:spPr>
        <p:txBody>
          <a:bodyPr wrap="square" lIns="0" tIns="0" rIns="0" bIns="0" rtlCol="0" anchor="t"/>
          <a:lstStyle/>
          <a:p>
            <a:pPr indent="0" marL="0">
              <a:buNone/>
            </a:pPr>
            <a:r>
              <a:rPr lang="en-US" sz="2100" b="1" dirty="0">
                <a:solidFill>
                  <a:schemeClr val="tx2"/>
                </a:solidFill>
              </a:rPr>
              <a:t>No live view of progress</a:t>
            </a:r>
            <a:endParaRPr lang="en-US" sz="2100" dirty="0"/>
          </a:p>
        </p:txBody>
      </p:sp>
      <p:sp>
        <p:nvSpPr>
          <p:cNvPr id="14" name="Text 9"/>
          <p:cNvSpPr txBox="1"/>
          <p:nvPr/>
        </p:nvSpPr>
        <p:spPr>
          <a:xfrm>
            <a:off x="1600200" y="4892040"/>
            <a:ext cx="5212080" cy="731520"/>
          </a:xfrm>
          <a:prstGeom prst="rect">
            <a:avLst/>
          </a:prstGeom>
          <a:noFill/>
          <a:ln/>
        </p:spPr>
        <p:txBody>
          <a:bodyPr wrap="square" lIns="0" tIns="0" rIns="0" bIns="0" rtlCol="0" anchor="t"/>
          <a:lstStyle/>
          <a:p>
            <a:pPr indent="0" marL="0">
              <a:buNone/>
            </a:pPr>
            <a:r>
              <a:rPr lang="en-US" sz="1600" dirty="0">
                <a:solidFill>
                  <a:schemeClr val="tx1"/>
                </a:solidFill>
              </a:rPr>
              <a:t>Staff have to chase each student to find out who is falling behind.</a:t>
            </a:r>
            <a:endParaRPr lang="en-US" sz="1600" dirty="0"/>
          </a:p>
        </p:txBody>
      </p:sp>
      <p:sp>
        <p:nvSpPr>
          <p:cNvPr id="15" name="Shape 10"/>
          <p:cNvSpPr/>
          <p:nvPr/>
        </p:nvSpPr>
        <p:spPr>
          <a:xfrm>
            <a:off x="7315200" y="1417320"/>
            <a:ext cx="4325112" cy="4617720"/>
          </a:xfrm>
          <a:prstGeom prst="roundRect">
            <a:avLst>
              <a:gd name="adj" fmla="val 2114"/>
            </a:avLst>
          </a:prstGeom>
          <a:solidFill>
            <a:schemeClr val="bg2"/>
          </a:solidFill>
          <a:ln w="12700">
            <a:solidFill>
              <a:schemeClr val="bg2"/>
            </a:solidFill>
            <a:prstDash val="solid"/>
          </a:ln>
        </p:spPr>
      </p:sp>
      <p:sp>
        <p:nvSpPr>
          <p:cNvPr id="16" name="Text 11"/>
          <p:cNvSpPr txBox="1"/>
          <p:nvPr/>
        </p:nvSpPr>
        <p:spPr>
          <a:xfrm>
            <a:off x="7635240" y="1645920"/>
            <a:ext cx="3749040" cy="411480"/>
          </a:xfrm>
          <a:prstGeom prst="rect">
            <a:avLst/>
          </a:prstGeom>
          <a:noFill/>
          <a:ln/>
        </p:spPr>
        <p:txBody>
          <a:bodyPr wrap="square" lIns="0" tIns="0" rIns="0" bIns="0" rtlCol="0" anchor="t"/>
          <a:lstStyle/>
          <a:p>
            <a:pPr indent="0" marL="0">
              <a:buNone/>
            </a:pPr>
            <a:r>
              <a:rPr lang="en-US" sz="2000" b="1" dirty="0">
                <a:solidFill>
                  <a:schemeClr val="tx2"/>
                </a:solidFill>
              </a:rPr>
              <a:t>Who is affected</a:t>
            </a:r>
            <a:endParaRPr lang="en-US" sz="2000" dirty="0"/>
          </a:p>
        </p:txBody>
      </p:sp>
      <p:pic>
        <p:nvPicPr>
          <p:cNvPr id="17" name="Image 3" descr="preencoded.png">    </p:cNvPr>
          <p:cNvPicPr>
            <a:picLocks noChangeAspect="1"/>
          </p:cNvPicPr>
          <p:nvPr/>
        </p:nvPicPr>
        <p:blipFill>
          <a:blip r:embed="rId4"/>
          <a:stretch>
            <a:fillRect/>
          </a:stretch>
        </p:blipFill>
        <p:spPr>
          <a:xfrm>
            <a:off x="7635240" y="2286000"/>
            <a:ext cx="411480" cy="411480"/>
          </a:xfrm>
          <a:prstGeom prst="rect">
            <a:avLst/>
          </a:prstGeom>
        </p:spPr>
      </p:pic>
      <p:sp>
        <p:nvSpPr>
          <p:cNvPr id="18" name="Text 12"/>
          <p:cNvSpPr txBox="1"/>
          <p:nvPr/>
        </p:nvSpPr>
        <p:spPr>
          <a:xfrm>
            <a:off x="8229600" y="2240280"/>
            <a:ext cx="3200400" cy="320040"/>
          </a:xfrm>
          <a:prstGeom prst="rect">
            <a:avLst/>
          </a:prstGeom>
          <a:noFill/>
          <a:ln/>
        </p:spPr>
        <p:txBody>
          <a:bodyPr wrap="square" lIns="0" tIns="0" rIns="0" bIns="0" rtlCol="0" anchor="t"/>
          <a:lstStyle/>
          <a:p>
            <a:pPr indent="0" marL="0">
              <a:buNone/>
            </a:pPr>
            <a:r>
              <a:rPr lang="en-US" sz="1600" b="1" dirty="0">
                <a:solidFill>
                  <a:schemeClr val="tx1"/>
                </a:solidFill>
              </a:rPr>
              <a:t>Students</a:t>
            </a:r>
            <a:endParaRPr lang="en-US" sz="1600" dirty="0"/>
          </a:p>
        </p:txBody>
      </p:sp>
      <p:sp>
        <p:nvSpPr>
          <p:cNvPr id="19" name="Text 13"/>
          <p:cNvSpPr txBox="1"/>
          <p:nvPr/>
        </p:nvSpPr>
        <p:spPr>
          <a:xfrm>
            <a:off x="8229600" y="2560320"/>
            <a:ext cx="3200400" cy="365760"/>
          </a:xfrm>
          <a:prstGeom prst="rect">
            <a:avLst/>
          </a:prstGeom>
          <a:noFill/>
          <a:ln/>
        </p:spPr>
        <p:txBody>
          <a:bodyPr wrap="square" lIns="0" tIns="0" rIns="0" bIns="0" rtlCol="0" anchor="t"/>
          <a:lstStyle/>
          <a:p>
            <a:pPr indent="0" marL="0">
              <a:buNone/>
            </a:pPr>
            <a:r>
              <a:rPr lang="en-US" sz="1400" dirty="0">
                <a:solidFill>
                  <a:schemeClr val="accent5"/>
                </a:solidFill>
              </a:rPr>
              <a:t>keep track of every document</a:t>
            </a:r>
            <a:endParaRPr lang="en-US" sz="1400" dirty="0"/>
          </a:p>
        </p:txBody>
      </p:sp>
      <p:pic>
        <p:nvPicPr>
          <p:cNvPr id="20" name="Image 4" descr="preencoded.png">    </p:cNvPr>
          <p:cNvPicPr>
            <a:picLocks noChangeAspect="1"/>
          </p:cNvPicPr>
          <p:nvPr/>
        </p:nvPicPr>
        <p:blipFill>
          <a:blip r:embed="rId5"/>
          <a:stretch>
            <a:fillRect/>
          </a:stretch>
        </p:blipFill>
        <p:spPr>
          <a:xfrm>
            <a:off x="7635240" y="3200400"/>
            <a:ext cx="411480" cy="411480"/>
          </a:xfrm>
          <a:prstGeom prst="rect">
            <a:avLst/>
          </a:prstGeom>
        </p:spPr>
      </p:pic>
      <p:sp>
        <p:nvSpPr>
          <p:cNvPr id="21" name="Text 14"/>
          <p:cNvSpPr txBox="1"/>
          <p:nvPr/>
        </p:nvSpPr>
        <p:spPr>
          <a:xfrm>
            <a:off x="8229600" y="3154680"/>
            <a:ext cx="3200400" cy="320040"/>
          </a:xfrm>
          <a:prstGeom prst="rect">
            <a:avLst/>
          </a:prstGeom>
          <a:noFill/>
          <a:ln/>
        </p:spPr>
        <p:txBody>
          <a:bodyPr wrap="square" lIns="0" tIns="0" rIns="0" bIns="0" rtlCol="0" anchor="t"/>
          <a:lstStyle/>
          <a:p>
            <a:pPr indent="0" marL="0">
              <a:buNone/>
            </a:pPr>
            <a:r>
              <a:rPr lang="en-US" sz="1600" b="1" dirty="0">
                <a:solidFill>
                  <a:schemeClr val="tx1"/>
                </a:solidFill>
              </a:rPr>
              <a:t>Workplace mentors</a:t>
            </a:r>
            <a:endParaRPr lang="en-US" sz="1600" dirty="0"/>
          </a:p>
        </p:txBody>
      </p:sp>
      <p:sp>
        <p:nvSpPr>
          <p:cNvPr id="22" name="Text 15"/>
          <p:cNvSpPr txBox="1"/>
          <p:nvPr/>
        </p:nvSpPr>
        <p:spPr>
          <a:xfrm>
            <a:off x="8229600" y="3474720"/>
            <a:ext cx="3200400" cy="365760"/>
          </a:xfrm>
          <a:prstGeom prst="rect">
            <a:avLst/>
          </a:prstGeom>
          <a:noFill/>
          <a:ln/>
        </p:spPr>
        <p:txBody>
          <a:bodyPr wrap="square" lIns="0" tIns="0" rIns="0" bIns="0" rtlCol="0" anchor="t"/>
          <a:lstStyle/>
          <a:p>
            <a:pPr indent="0" marL="0">
              <a:buNone/>
            </a:pPr>
            <a:r>
              <a:rPr lang="en-US" sz="1400" dirty="0">
                <a:solidFill>
                  <a:schemeClr val="accent5"/>
                </a:solidFill>
              </a:rPr>
              <a:t>busy host staff, not CTU employees</a:t>
            </a:r>
            <a:endParaRPr lang="en-US" sz="1400" dirty="0"/>
          </a:p>
        </p:txBody>
      </p:sp>
      <p:pic>
        <p:nvPicPr>
          <p:cNvPr id="23" name="Image 5" descr="preencoded.png">    </p:cNvPr>
          <p:cNvPicPr>
            <a:picLocks noChangeAspect="1"/>
          </p:cNvPicPr>
          <p:nvPr/>
        </p:nvPicPr>
        <p:blipFill>
          <a:blip r:embed="rId6"/>
          <a:stretch>
            <a:fillRect/>
          </a:stretch>
        </p:blipFill>
        <p:spPr>
          <a:xfrm>
            <a:off x="7635240" y="4114800"/>
            <a:ext cx="411480" cy="411480"/>
          </a:xfrm>
          <a:prstGeom prst="rect">
            <a:avLst/>
          </a:prstGeom>
        </p:spPr>
      </p:pic>
      <p:sp>
        <p:nvSpPr>
          <p:cNvPr id="24" name="Text 16"/>
          <p:cNvSpPr txBox="1"/>
          <p:nvPr/>
        </p:nvSpPr>
        <p:spPr>
          <a:xfrm>
            <a:off x="8229600" y="4069080"/>
            <a:ext cx="3200400" cy="320040"/>
          </a:xfrm>
          <a:prstGeom prst="rect">
            <a:avLst/>
          </a:prstGeom>
          <a:noFill/>
          <a:ln/>
        </p:spPr>
        <p:txBody>
          <a:bodyPr wrap="square" lIns="0" tIns="0" rIns="0" bIns="0" rtlCol="0" anchor="t"/>
          <a:lstStyle/>
          <a:p>
            <a:pPr indent="0" marL="0">
              <a:buNone/>
            </a:pPr>
            <a:r>
              <a:rPr lang="en-US" sz="1600" b="1" dirty="0">
                <a:solidFill>
                  <a:schemeClr val="tx1"/>
                </a:solidFill>
              </a:rPr>
              <a:t>Coordinators</a:t>
            </a:r>
            <a:endParaRPr lang="en-US" sz="1600" dirty="0"/>
          </a:p>
        </p:txBody>
      </p:sp>
      <p:sp>
        <p:nvSpPr>
          <p:cNvPr id="25" name="Text 17"/>
          <p:cNvSpPr txBox="1"/>
          <p:nvPr/>
        </p:nvSpPr>
        <p:spPr>
          <a:xfrm>
            <a:off x="8229600" y="4389120"/>
            <a:ext cx="3200400" cy="365760"/>
          </a:xfrm>
          <a:prstGeom prst="rect">
            <a:avLst/>
          </a:prstGeom>
          <a:noFill/>
          <a:ln/>
        </p:spPr>
        <p:txBody>
          <a:bodyPr wrap="square" lIns="0" tIns="0" rIns="0" bIns="0" rtlCol="0" anchor="t"/>
          <a:lstStyle/>
          <a:p>
            <a:pPr indent="0" marL="0">
              <a:buNone/>
            </a:pPr>
            <a:r>
              <a:rPr lang="en-US" sz="1400" dirty="0">
                <a:solidFill>
                  <a:schemeClr val="accent5"/>
                </a:solidFill>
              </a:rPr>
              <a:t>check many students' records</a:t>
            </a:r>
            <a:endParaRPr lang="en-US" sz="1400" dirty="0"/>
          </a:p>
        </p:txBody>
      </p:sp>
      <p:pic>
        <p:nvPicPr>
          <p:cNvPr id="26" name="Image 6" descr="preencoded.png">    </p:cNvPr>
          <p:cNvPicPr>
            <a:picLocks noChangeAspect="1"/>
          </p:cNvPicPr>
          <p:nvPr/>
        </p:nvPicPr>
        <p:blipFill>
          <a:blip r:embed="rId7"/>
          <a:stretch>
            <a:fillRect/>
          </a:stretch>
        </p:blipFill>
        <p:spPr>
          <a:xfrm>
            <a:off x="7635240" y="5029200"/>
            <a:ext cx="411480" cy="411480"/>
          </a:xfrm>
          <a:prstGeom prst="rect">
            <a:avLst/>
          </a:prstGeom>
        </p:spPr>
      </p:pic>
      <p:sp>
        <p:nvSpPr>
          <p:cNvPr id="27" name="Text 18"/>
          <p:cNvSpPr txBox="1"/>
          <p:nvPr/>
        </p:nvSpPr>
        <p:spPr>
          <a:xfrm>
            <a:off x="8229600" y="4983480"/>
            <a:ext cx="3200400" cy="320040"/>
          </a:xfrm>
          <a:prstGeom prst="rect">
            <a:avLst/>
          </a:prstGeom>
          <a:noFill/>
          <a:ln/>
        </p:spPr>
        <p:txBody>
          <a:bodyPr wrap="square" lIns="0" tIns="0" rIns="0" bIns="0" rtlCol="0" anchor="t"/>
          <a:lstStyle/>
          <a:p>
            <a:pPr indent="0" marL="0">
              <a:buNone/>
            </a:pPr>
            <a:r>
              <a:rPr lang="en-US" sz="1600" b="1" dirty="0">
                <a:solidFill>
                  <a:schemeClr val="tx1"/>
                </a:solidFill>
              </a:rPr>
              <a:t>Lecturers</a:t>
            </a:r>
            <a:endParaRPr lang="en-US" sz="1600" dirty="0"/>
          </a:p>
        </p:txBody>
      </p:sp>
      <p:sp>
        <p:nvSpPr>
          <p:cNvPr id="28" name="Text 19"/>
          <p:cNvSpPr txBox="1"/>
          <p:nvPr/>
        </p:nvSpPr>
        <p:spPr>
          <a:xfrm>
            <a:off x="8229600" y="5303520"/>
            <a:ext cx="3200400" cy="365760"/>
          </a:xfrm>
          <a:prstGeom prst="rect">
            <a:avLst/>
          </a:prstGeom>
          <a:noFill/>
          <a:ln/>
        </p:spPr>
        <p:txBody>
          <a:bodyPr wrap="square" lIns="0" tIns="0" rIns="0" bIns="0" rtlCol="0" anchor="t"/>
          <a:lstStyle/>
          <a:p>
            <a:pPr indent="0" marL="0">
              <a:buNone/>
            </a:pPr>
            <a:r>
              <a:rPr lang="en-US" sz="1400" dirty="0">
                <a:solidFill>
                  <a:schemeClr val="accent5"/>
                </a:solidFill>
              </a:rPr>
              <a:t>need to know who is behind</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rPr>
              <a:t>Aim, objectives and research questions</a:t>
            </a:r>
            <a:endParaRPr lang="en-US" sz="3400" dirty="0"/>
          </a:p>
        </p:txBody>
      </p:sp>
      <p:sp>
        <p:nvSpPr>
          <p:cNvPr id="3" name="Shape 1"/>
          <p:cNvSpPr/>
          <p:nvPr/>
        </p:nvSpPr>
        <p:spPr>
          <a:xfrm>
            <a:off x="548640" y="1325880"/>
            <a:ext cx="11094415" cy="1051560"/>
          </a:xfrm>
          <a:prstGeom prst="roundRect">
            <a:avLst>
              <a:gd name="adj" fmla="val 8696"/>
            </a:avLst>
          </a:prstGeom>
          <a:solidFill>
            <a:schemeClr val="tx2"/>
          </a:solidFill>
          <a:ln w="12700">
            <a:solidFill>
              <a:schemeClr val="tx2"/>
            </a:solidFill>
            <a:prstDash val="solid"/>
          </a:ln>
        </p:spPr>
      </p:sp>
      <p:sp>
        <p:nvSpPr>
          <p:cNvPr id="4" name="Shape 2"/>
          <p:cNvSpPr/>
          <p:nvPr/>
        </p:nvSpPr>
        <p:spPr>
          <a:xfrm>
            <a:off x="822960" y="1463040"/>
            <a:ext cx="777240" cy="77724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1017270" y="1657350"/>
            <a:ext cx="388620" cy="388620"/>
          </a:xfrm>
          <a:prstGeom prst="rect">
            <a:avLst/>
          </a:prstGeom>
        </p:spPr>
      </p:pic>
      <p:sp>
        <p:nvSpPr>
          <p:cNvPr id="6" name="Text 3"/>
          <p:cNvSpPr txBox="1"/>
          <p:nvPr/>
        </p:nvSpPr>
        <p:spPr>
          <a:xfrm>
            <a:off x="1874520" y="1417320"/>
            <a:ext cx="9418320" cy="868680"/>
          </a:xfrm>
          <a:prstGeom prst="rect">
            <a:avLst/>
          </a:prstGeom>
          <a:noFill/>
          <a:ln/>
        </p:spPr>
        <p:txBody>
          <a:bodyPr wrap="square" lIns="0" tIns="0" rIns="0" bIns="0" rtlCol="0" anchor="ctr"/>
          <a:lstStyle/>
          <a:p>
            <a:pPr indent="0" marL="0">
              <a:buNone/>
            </a:pPr>
            <a:r>
              <a:rPr lang="en-US" sz="1700" b="1" dirty="0">
                <a:solidFill>
                  <a:schemeClr val="accent6"/>
                </a:solidFill>
              </a:rPr>
              <a:t>Aim  </a:t>
            </a:r>
            <a:pPr indent="0" marL="0">
              <a:buNone/>
            </a:pPr>
            <a:r>
              <a:rPr lang="en-US" sz="1700" dirty="0">
                <a:solidFill>
                  <a:schemeClr val="bg1"/>
                </a:solidFill>
              </a:rPr>
              <a:t>Design, develop and evaluate TrackWIL: one web application where students record daily work and evidence, mentors verify it through a secure link, and staff monitor progress.</a:t>
            </a:r>
            <a:endParaRPr lang="en-US" sz="1700" dirty="0"/>
          </a:p>
        </p:txBody>
      </p:sp>
      <p:sp>
        <p:nvSpPr>
          <p:cNvPr id="7" name="Shape 4"/>
          <p:cNvSpPr/>
          <p:nvPr/>
        </p:nvSpPr>
        <p:spPr>
          <a:xfrm>
            <a:off x="548640" y="2697480"/>
            <a:ext cx="2036003" cy="3429000"/>
          </a:xfrm>
          <a:prstGeom prst="roundRect">
            <a:avLst>
              <a:gd name="adj" fmla="val 4491"/>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8" name="Shape 5"/>
          <p:cNvSpPr/>
          <p:nvPr/>
        </p:nvSpPr>
        <p:spPr>
          <a:xfrm>
            <a:off x="777240" y="2926080"/>
            <a:ext cx="502920" cy="502920"/>
          </a:xfrm>
          <a:prstGeom prst="ellipse">
            <a:avLst/>
          </a:prstGeom>
          <a:solidFill>
            <a:schemeClr val="accent1"/>
          </a:solidFill>
          <a:ln/>
        </p:spPr>
      </p:sp>
      <p:sp>
        <p:nvSpPr>
          <p:cNvPr id="9" name="Text 6"/>
          <p:cNvSpPr txBox="1"/>
          <p:nvPr/>
        </p:nvSpPr>
        <p:spPr>
          <a:xfrm>
            <a:off x="777240" y="29260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0" name="Text 7"/>
          <p:cNvSpPr txBox="1"/>
          <p:nvPr/>
        </p:nvSpPr>
        <p:spPr>
          <a:xfrm>
            <a:off x="777240" y="3566160"/>
            <a:ext cx="1578803" cy="365760"/>
          </a:xfrm>
          <a:prstGeom prst="rect">
            <a:avLst/>
          </a:prstGeom>
          <a:noFill/>
          <a:ln/>
        </p:spPr>
        <p:txBody>
          <a:bodyPr wrap="square" lIns="0" tIns="0" rIns="0" bIns="0" rtlCol="0" anchor="t"/>
          <a:lstStyle/>
          <a:p>
            <a:pPr indent="0" marL="0">
              <a:buNone/>
            </a:pPr>
            <a:r>
              <a:rPr lang="en-US" sz="1900" b="1" dirty="0">
                <a:solidFill>
                  <a:schemeClr val="tx2"/>
                </a:solidFill>
              </a:rPr>
              <a:t>Analyse</a:t>
            </a:r>
            <a:endParaRPr lang="en-US" sz="1900" dirty="0"/>
          </a:p>
        </p:txBody>
      </p:sp>
      <p:sp>
        <p:nvSpPr>
          <p:cNvPr id="11" name="Text 8"/>
          <p:cNvSpPr txBox="1"/>
          <p:nvPr/>
        </p:nvSpPr>
        <p:spPr>
          <a:xfrm>
            <a:off x="777240" y="3931920"/>
            <a:ext cx="1578803" cy="914400"/>
          </a:xfrm>
          <a:prstGeom prst="rect">
            <a:avLst/>
          </a:prstGeom>
          <a:noFill/>
          <a:ln/>
        </p:spPr>
        <p:txBody>
          <a:bodyPr wrap="square" lIns="0" tIns="0" rIns="0" bIns="0" rtlCol="0" anchor="t"/>
          <a:lstStyle/>
          <a:p>
            <a:pPr indent="0" marL="0">
              <a:buNone/>
            </a:pPr>
            <a:r>
              <a:rPr lang="en-US" sz="1500" dirty="0">
                <a:solidFill>
                  <a:schemeClr val="tx1"/>
                </a:solidFill>
              </a:rPr>
              <a:t>the current process and its challenges</a:t>
            </a:r>
            <a:endParaRPr lang="en-US" sz="1500" dirty="0"/>
          </a:p>
        </p:txBody>
      </p:sp>
      <p:sp>
        <p:nvSpPr>
          <p:cNvPr id="12" name="Shape 9"/>
          <p:cNvSpPr/>
          <p:nvPr/>
        </p:nvSpPr>
        <p:spPr>
          <a:xfrm>
            <a:off x="685800" y="4937760"/>
            <a:ext cx="1761683" cy="1051560"/>
          </a:xfrm>
          <a:prstGeom prst="roundRect">
            <a:avLst>
              <a:gd name="adj" fmla="val 6957"/>
            </a:avLst>
          </a:prstGeom>
          <a:solidFill>
            <a:schemeClr val="bg2"/>
          </a:solidFill>
          <a:ln/>
        </p:spPr>
      </p:sp>
      <p:sp>
        <p:nvSpPr>
          <p:cNvPr id="13" name="Text 10"/>
          <p:cNvSpPr txBox="1"/>
          <p:nvPr/>
        </p:nvSpPr>
        <p:spPr>
          <a:xfrm>
            <a:off x="822960" y="5001768"/>
            <a:ext cx="1487363" cy="914400"/>
          </a:xfrm>
          <a:prstGeom prst="rect">
            <a:avLst/>
          </a:prstGeom>
          <a:noFill/>
          <a:ln/>
        </p:spPr>
        <p:txBody>
          <a:bodyPr wrap="square" lIns="0" tIns="0" rIns="0" bIns="0" rtlCol="0" anchor="ctr"/>
          <a:lstStyle/>
          <a:p>
            <a:pPr indent="0" marL="0">
              <a:buNone/>
            </a:pPr>
            <a:r>
              <a:rPr lang="en-US" sz="1300" dirty="0">
                <a:solidFill>
                  <a:schemeClr val="tx2"/>
                </a:solidFill>
              </a:rPr>
              <a:t>RQ1  What challenges do the four user groups face?</a:t>
            </a:r>
            <a:endParaRPr lang="en-US" sz="1300" dirty="0"/>
          </a:p>
        </p:txBody>
      </p:sp>
      <p:sp>
        <p:nvSpPr>
          <p:cNvPr id="14" name="Shape 11"/>
          <p:cNvSpPr/>
          <p:nvPr/>
        </p:nvSpPr>
        <p:spPr>
          <a:xfrm>
            <a:off x="2813243" y="2697480"/>
            <a:ext cx="2036003" cy="3429000"/>
          </a:xfrm>
          <a:prstGeom prst="roundRect">
            <a:avLst>
              <a:gd name="adj" fmla="val 4491"/>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5" name="Shape 12"/>
          <p:cNvSpPr/>
          <p:nvPr/>
        </p:nvSpPr>
        <p:spPr>
          <a:xfrm>
            <a:off x="3041843" y="2926080"/>
            <a:ext cx="502920" cy="502920"/>
          </a:xfrm>
          <a:prstGeom prst="ellipse">
            <a:avLst/>
          </a:prstGeom>
          <a:solidFill>
            <a:schemeClr val="accent1"/>
          </a:solidFill>
          <a:ln/>
        </p:spPr>
      </p:sp>
      <p:sp>
        <p:nvSpPr>
          <p:cNvPr id="16" name="Text 13"/>
          <p:cNvSpPr txBox="1"/>
          <p:nvPr/>
        </p:nvSpPr>
        <p:spPr>
          <a:xfrm>
            <a:off x="3041843" y="29260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7" name="Text 14"/>
          <p:cNvSpPr txBox="1"/>
          <p:nvPr/>
        </p:nvSpPr>
        <p:spPr>
          <a:xfrm>
            <a:off x="3041843" y="3566160"/>
            <a:ext cx="1578803" cy="365760"/>
          </a:xfrm>
          <a:prstGeom prst="rect">
            <a:avLst/>
          </a:prstGeom>
          <a:noFill/>
          <a:ln/>
        </p:spPr>
        <p:txBody>
          <a:bodyPr wrap="square" lIns="0" tIns="0" rIns="0" bIns="0" rtlCol="0" anchor="t"/>
          <a:lstStyle/>
          <a:p>
            <a:pPr indent="0" marL="0">
              <a:buNone/>
            </a:pPr>
            <a:r>
              <a:rPr lang="en-US" sz="1900" b="1" dirty="0">
                <a:solidFill>
                  <a:schemeClr val="tx2"/>
                </a:solidFill>
              </a:rPr>
              <a:t>Design</a:t>
            </a:r>
            <a:endParaRPr lang="en-US" sz="1900" dirty="0"/>
          </a:p>
        </p:txBody>
      </p:sp>
      <p:sp>
        <p:nvSpPr>
          <p:cNvPr id="18" name="Text 15"/>
          <p:cNvSpPr txBox="1"/>
          <p:nvPr/>
        </p:nvSpPr>
        <p:spPr>
          <a:xfrm>
            <a:off x="3041843" y="3931920"/>
            <a:ext cx="1578803" cy="914400"/>
          </a:xfrm>
          <a:prstGeom prst="rect">
            <a:avLst/>
          </a:prstGeom>
          <a:noFill/>
          <a:ln/>
        </p:spPr>
        <p:txBody>
          <a:bodyPr wrap="square" lIns="0" tIns="0" rIns="0" bIns="0" rtlCol="0" anchor="t"/>
          <a:lstStyle/>
          <a:p>
            <a:pPr indent="0" marL="0">
              <a:buNone/>
            </a:pPr>
            <a:r>
              <a:rPr lang="en-US" sz="1500" dirty="0">
                <a:solidFill>
                  <a:schemeClr val="tx1"/>
                </a:solidFill>
              </a:rPr>
              <a:t>a logbook with one-time-link mentor verification</a:t>
            </a:r>
            <a:endParaRPr lang="en-US" sz="1500" dirty="0"/>
          </a:p>
        </p:txBody>
      </p:sp>
      <p:sp>
        <p:nvSpPr>
          <p:cNvPr id="19" name="Shape 16"/>
          <p:cNvSpPr/>
          <p:nvPr/>
        </p:nvSpPr>
        <p:spPr>
          <a:xfrm>
            <a:off x="2950403" y="4937760"/>
            <a:ext cx="1761683" cy="1051560"/>
          </a:xfrm>
          <a:prstGeom prst="roundRect">
            <a:avLst>
              <a:gd name="adj" fmla="val 6957"/>
            </a:avLst>
          </a:prstGeom>
          <a:solidFill>
            <a:schemeClr val="bg2"/>
          </a:solidFill>
          <a:ln/>
        </p:spPr>
      </p:sp>
      <p:sp>
        <p:nvSpPr>
          <p:cNvPr id="20" name="Text 17"/>
          <p:cNvSpPr txBox="1"/>
          <p:nvPr/>
        </p:nvSpPr>
        <p:spPr>
          <a:xfrm>
            <a:off x="3087563" y="5001768"/>
            <a:ext cx="1487363" cy="914400"/>
          </a:xfrm>
          <a:prstGeom prst="rect">
            <a:avLst/>
          </a:prstGeom>
          <a:noFill/>
          <a:ln/>
        </p:spPr>
        <p:txBody>
          <a:bodyPr wrap="square" lIns="0" tIns="0" rIns="0" bIns="0" rtlCol="0" anchor="ctr"/>
          <a:lstStyle/>
          <a:p>
            <a:pPr indent="0" marL="0">
              <a:buNone/>
            </a:pPr>
            <a:r>
              <a:rPr lang="en-US" sz="1300" dirty="0">
                <a:solidFill>
                  <a:schemeClr val="tx2"/>
                </a:solidFill>
              </a:rPr>
              <a:t>RQ2  How can a one-time link improve verification?</a:t>
            </a:r>
            <a:endParaRPr lang="en-US" sz="1300" dirty="0"/>
          </a:p>
        </p:txBody>
      </p:sp>
      <p:sp>
        <p:nvSpPr>
          <p:cNvPr id="21" name="Shape 18"/>
          <p:cNvSpPr/>
          <p:nvPr/>
        </p:nvSpPr>
        <p:spPr>
          <a:xfrm>
            <a:off x="5077846" y="2697480"/>
            <a:ext cx="2036003" cy="3429000"/>
          </a:xfrm>
          <a:prstGeom prst="roundRect">
            <a:avLst>
              <a:gd name="adj" fmla="val 4491"/>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2" name="Shape 19"/>
          <p:cNvSpPr/>
          <p:nvPr/>
        </p:nvSpPr>
        <p:spPr>
          <a:xfrm>
            <a:off x="5306446" y="2926080"/>
            <a:ext cx="502920" cy="502920"/>
          </a:xfrm>
          <a:prstGeom prst="ellipse">
            <a:avLst/>
          </a:prstGeom>
          <a:solidFill>
            <a:schemeClr val="accent1"/>
          </a:solidFill>
          <a:ln/>
        </p:spPr>
      </p:sp>
      <p:sp>
        <p:nvSpPr>
          <p:cNvPr id="23" name="Text 20"/>
          <p:cNvSpPr txBox="1"/>
          <p:nvPr/>
        </p:nvSpPr>
        <p:spPr>
          <a:xfrm>
            <a:off x="5306446" y="29260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4" name="Text 21"/>
          <p:cNvSpPr txBox="1"/>
          <p:nvPr/>
        </p:nvSpPr>
        <p:spPr>
          <a:xfrm>
            <a:off x="5306446" y="3566160"/>
            <a:ext cx="1578803" cy="365760"/>
          </a:xfrm>
          <a:prstGeom prst="rect">
            <a:avLst/>
          </a:prstGeom>
          <a:noFill/>
          <a:ln/>
        </p:spPr>
        <p:txBody>
          <a:bodyPr wrap="square" lIns="0" tIns="0" rIns="0" bIns="0" rtlCol="0" anchor="t"/>
          <a:lstStyle/>
          <a:p>
            <a:pPr indent="0" marL="0">
              <a:buNone/>
            </a:pPr>
            <a:r>
              <a:rPr lang="en-US" sz="1900" b="1" dirty="0">
                <a:solidFill>
                  <a:schemeClr val="tx2"/>
                </a:solidFill>
              </a:rPr>
              <a:t>Develop</a:t>
            </a:r>
            <a:endParaRPr lang="en-US" sz="1900" dirty="0"/>
          </a:p>
        </p:txBody>
      </p:sp>
      <p:sp>
        <p:nvSpPr>
          <p:cNvPr id="25" name="Text 22"/>
          <p:cNvSpPr txBox="1"/>
          <p:nvPr/>
        </p:nvSpPr>
        <p:spPr>
          <a:xfrm>
            <a:off x="5306446" y="3931920"/>
            <a:ext cx="1578803" cy="914400"/>
          </a:xfrm>
          <a:prstGeom prst="rect">
            <a:avLst/>
          </a:prstGeom>
          <a:noFill/>
          <a:ln/>
        </p:spPr>
        <p:txBody>
          <a:bodyPr wrap="square" lIns="0" tIns="0" rIns="0" bIns="0" rtlCol="0" anchor="t"/>
          <a:lstStyle/>
          <a:p>
            <a:pPr indent="0" marL="0">
              <a:buNone/>
            </a:pPr>
            <a:r>
              <a:rPr lang="en-US" sz="1500" dirty="0">
                <a:solidFill>
                  <a:schemeClr val="tx1"/>
                </a:solidFill>
              </a:rPr>
              <a:t>the student logbook, mentor page and shared dashboard</a:t>
            </a:r>
            <a:endParaRPr lang="en-US" sz="1500" dirty="0"/>
          </a:p>
        </p:txBody>
      </p:sp>
      <p:sp>
        <p:nvSpPr>
          <p:cNvPr id="26" name="Shape 23"/>
          <p:cNvSpPr/>
          <p:nvPr/>
        </p:nvSpPr>
        <p:spPr>
          <a:xfrm>
            <a:off x="5215006" y="4937760"/>
            <a:ext cx="1761683" cy="1051560"/>
          </a:xfrm>
          <a:prstGeom prst="roundRect">
            <a:avLst>
              <a:gd name="adj" fmla="val 6957"/>
            </a:avLst>
          </a:prstGeom>
          <a:solidFill>
            <a:schemeClr val="bg2"/>
          </a:solidFill>
          <a:ln/>
        </p:spPr>
      </p:sp>
      <p:sp>
        <p:nvSpPr>
          <p:cNvPr id="27" name="Text 24"/>
          <p:cNvSpPr txBox="1"/>
          <p:nvPr/>
        </p:nvSpPr>
        <p:spPr>
          <a:xfrm>
            <a:off x="5352166" y="5001768"/>
            <a:ext cx="1487363" cy="914400"/>
          </a:xfrm>
          <a:prstGeom prst="rect">
            <a:avLst/>
          </a:prstGeom>
          <a:noFill/>
          <a:ln/>
        </p:spPr>
        <p:txBody>
          <a:bodyPr wrap="square" lIns="0" tIns="0" rIns="0" bIns="0" rtlCol="0" anchor="ctr"/>
          <a:lstStyle/>
          <a:p>
            <a:pPr indent="0" marL="0">
              <a:buNone/>
            </a:pPr>
            <a:r>
              <a:rPr lang="en-US" sz="1300" dirty="0">
                <a:solidFill>
                  <a:schemeClr val="tx2"/>
                </a:solidFill>
              </a:rPr>
              <a:t>RQ3  How can role-specific views support each group?</a:t>
            </a:r>
            <a:endParaRPr lang="en-US" sz="1300" dirty="0"/>
          </a:p>
        </p:txBody>
      </p:sp>
      <p:sp>
        <p:nvSpPr>
          <p:cNvPr id="28" name="Shape 25"/>
          <p:cNvSpPr/>
          <p:nvPr/>
        </p:nvSpPr>
        <p:spPr>
          <a:xfrm>
            <a:off x="7342449" y="2697480"/>
            <a:ext cx="2036003" cy="3429000"/>
          </a:xfrm>
          <a:prstGeom prst="roundRect">
            <a:avLst>
              <a:gd name="adj" fmla="val 4491"/>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9" name="Shape 26"/>
          <p:cNvSpPr/>
          <p:nvPr/>
        </p:nvSpPr>
        <p:spPr>
          <a:xfrm>
            <a:off x="7571049" y="2926080"/>
            <a:ext cx="502920" cy="502920"/>
          </a:xfrm>
          <a:prstGeom prst="ellipse">
            <a:avLst/>
          </a:prstGeom>
          <a:solidFill>
            <a:schemeClr val="accent1"/>
          </a:solidFill>
          <a:ln/>
        </p:spPr>
      </p:sp>
      <p:sp>
        <p:nvSpPr>
          <p:cNvPr id="30" name="Text 27"/>
          <p:cNvSpPr txBox="1"/>
          <p:nvPr/>
        </p:nvSpPr>
        <p:spPr>
          <a:xfrm>
            <a:off x="7571049" y="29260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31" name="Text 28"/>
          <p:cNvSpPr txBox="1"/>
          <p:nvPr/>
        </p:nvSpPr>
        <p:spPr>
          <a:xfrm>
            <a:off x="7571049" y="3566160"/>
            <a:ext cx="1578803" cy="365760"/>
          </a:xfrm>
          <a:prstGeom prst="rect">
            <a:avLst/>
          </a:prstGeom>
          <a:noFill/>
          <a:ln/>
        </p:spPr>
        <p:txBody>
          <a:bodyPr wrap="square" lIns="0" tIns="0" rIns="0" bIns="0" rtlCol="0" anchor="t"/>
          <a:lstStyle/>
          <a:p>
            <a:pPr indent="0" marL="0">
              <a:buNone/>
            </a:pPr>
            <a:r>
              <a:rPr lang="en-US" sz="1900" b="1" dirty="0">
                <a:solidFill>
                  <a:schemeClr val="tx2"/>
                </a:solidFill>
              </a:rPr>
              <a:t>Store</a:t>
            </a:r>
            <a:endParaRPr lang="en-US" sz="1900" dirty="0"/>
          </a:p>
        </p:txBody>
      </p:sp>
      <p:sp>
        <p:nvSpPr>
          <p:cNvPr id="32" name="Text 29"/>
          <p:cNvSpPr txBox="1"/>
          <p:nvPr/>
        </p:nvSpPr>
        <p:spPr>
          <a:xfrm>
            <a:off x="7571049" y="3931920"/>
            <a:ext cx="1578803" cy="914400"/>
          </a:xfrm>
          <a:prstGeom prst="rect">
            <a:avLst/>
          </a:prstGeom>
          <a:noFill/>
          <a:ln/>
        </p:spPr>
        <p:txBody>
          <a:bodyPr wrap="square" lIns="0" tIns="0" rIns="0" bIns="0" rtlCol="0" anchor="t"/>
          <a:lstStyle/>
          <a:p>
            <a:pPr indent="0" marL="0">
              <a:buNone/>
            </a:pPr>
            <a:r>
              <a:rPr lang="en-US" sz="1500" dirty="0">
                <a:solidFill>
                  <a:schemeClr val="tx1"/>
                </a:solidFill>
              </a:rPr>
              <a:t>every entry with its status and timestamps</a:t>
            </a:r>
            <a:endParaRPr lang="en-US" sz="1500" dirty="0"/>
          </a:p>
        </p:txBody>
      </p:sp>
      <p:sp>
        <p:nvSpPr>
          <p:cNvPr id="33" name="Shape 30"/>
          <p:cNvSpPr/>
          <p:nvPr/>
        </p:nvSpPr>
        <p:spPr>
          <a:xfrm>
            <a:off x="7479609" y="4937760"/>
            <a:ext cx="1761683" cy="1051560"/>
          </a:xfrm>
          <a:prstGeom prst="roundRect">
            <a:avLst>
              <a:gd name="adj" fmla="val 6957"/>
            </a:avLst>
          </a:prstGeom>
          <a:solidFill>
            <a:schemeClr val="bg2"/>
          </a:solidFill>
          <a:ln/>
        </p:spPr>
      </p:sp>
      <p:sp>
        <p:nvSpPr>
          <p:cNvPr id="34" name="Text 31"/>
          <p:cNvSpPr txBox="1"/>
          <p:nvPr/>
        </p:nvSpPr>
        <p:spPr>
          <a:xfrm>
            <a:off x="7616769" y="5001768"/>
            <a:ext cx="1487363" cy="914400"/>
          </a:xfrm>
          <a:prstGeom prst="rect">
            <a:avLst/>
          </a:prstGeom>
          <a:noFill/>
          <a:ln/>
        </p:spPr>
        <p:txBody>
          <a:bodyPr wrap="square" lIns="0" tIns="0" rIns="0" bIns="0" rtlCol="0" anchor="ctr"/>
          <a:lstStyle/>
          <a:p>
            <a:pPr indent="0" marL="0">
              <a:buNone/>
            </a:pPr>
            <a:r>
              <a:rPr lang="en-US" sz="1300" dirty="0">
                <a:solidFill>
                  <a:schemeClr val="tx2"/>
                </a:solidFill>
              </a:rPr>
              <a:t>RQ4  How does a central database improve monitoring?</a:t>
            </a:r>
            <a:endParaRPr lang="en-US" sz="1300" dirty="0"/>
          </a:p>
        </p:txBody>
      </p:sp>
      <p:sp>
        <p:nvSpPr>
          <p:cNvPr id="35" name="Shape 32"/>
          <p:cNvSpPr/>
          <p:nvPr/>
        </p:nvSpPr>
        <p:spPr>
          <a:xfrm>
            <a:off x="9607052" y="2697480"/>
            <a:ext cx="2036003" cy="3429000"/>
          </a:xfrm>
          <a:prstGeom prst="roundRect">
            <a:avLst>
              <a:gd name="adj" fmla="val 4491"/>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36" name="Shape 33"/>
          <p:cNvSpPr/>
          <p:nvPr/>
        </p:nvSpPr>
        <p:spPr>
          <a:xfrm>
            <a:off x="9835652" y="2926080"/>
            <a:ext cx="502920" cy="502920"/>
          </a:xfrm>
          <a:prstGeom prst="ellipse">
            <a:avLst/>
          </a:prstGeom>
          <a:solidFill>
            <a:schemeClr val="accent1"/>
          </a:solidFill>
          <a:ln/>
        </p:spPr>
      </p:sp>
      <p:sp>
        <p:nvSpPr>
          <p:cNvPr id="37" name="Text 34"/>
          <p:cNvSpPr txBox="1"/>
          <p:nvPr/>
        </p:nvSpPr>
        <p:spPr>
          <a:xfrm>
            <a:off x="9835652" y="29260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38" name="Text 35"/>
          <p:cNvSpPr txBox="1"/>
          <p:nvPr/>
        </p:nvSpPr>
        <p:spPr>
          <a:xfrm>
            <a:off x="9835652" y="3566160"/>
            <a:ext cx="1578803" cy="365760"/>
          </a:xfrm>
          <a:prstGeom prst="rect">
            <a:avLst/>
          </a:prstGeom>
          <a:noFill/>
          <a:ln/>
        </p:spPr>
        <p:txBody>
          <a:bodyPr wrap="square" lIns="0" tIns="0" rIns="0" bIns="0" rtlCol="0" anchor="t"/>
          <a:lstStyle/>
          <a:p>
            <a:pPr indent="0" marL="0">
              <a:buNone/>
            </a:pPr>
            <a:r>
              <a:rPr lang="en-US" sz="1900" b="1" dirty="0">
                <a:solidFill>
                  <a:schemeClr val="tx2"/>
                </a:solidFill>
              </a:rPr>
              <a:t>Evaluate</a:t>
            </a:r>
            <a:endParaRPr lang="en-US" sz="1900" dirty="0"/>
          </a:p>
        </p:txBody>
      </p:sp>
      <p:sp>
        <p:nvSpPr>
          <p:cNvPr id="39" name="Text 36"/>
          <p:cNvSpPr txBox="1"/>
          <p:nvPr/>
        </p:nvSpPr>
        <p:spPr>
          <a:xfrm>
            <a:off x="9835652" y="3931920"/>
            <a:ext cx="1578803" cy="914400"/>
          </a:xfrm>
          <a:prstGeom prst="rect">
            <a:avLst/>
          </a:prstGeom>
          <a:noFill/>
          <a:ln/>
        </p:spPr>
        <p:txBody>
          <a:bodyPr wrap="square" lIns="0" tIns="0" rIns="0" bIns="0" rtlCol="0" anchor="t"/>
          <a:lstStyle/>
          <a:p>
            <a:pPr indent="0" marL="0">
              <a:buNone/>
            </a:pPr>
            <a:r>
              <a:rPr lang="en-US" sz="1500" dirty="0">
                <a:solidFill>
                  <a:schemeClr val="tx1"/>
                </a:solidFill>
              </a:rPr>
              <a:t>TrackWIL against its requirements</a:t>
            </a:r>
            <a:endParaRPr lang="en-US" sz="1500" dirty="0"/>
          </a:p>
        </p:txBody>
      </p:sp>
      <p:sp>
        <p:nvSpPr>
          <p:cNvPr id="40" name="Shape 37"/>
          <p:cNvSpPr/>
          <p:nvPr/>
        </p:nvSpPr>
        <p:spPr>
          <a:xfrm>
            <a:off x="9744212" y="4937760"/>
            <a:ext cx="1761683" cy="1051560"/>
          </a:xfrm>
          <a:prstGeom prst="roundRect">
            <a:avLst>
              <a:gd name="adj" fmla="val 6957"/>
            </a:avLst>
          </a:prstGeom>
          <a:solidFill>
            <a:schemeClr val="bg2"/>
          </a:solidFill>
          <a:ln/>
        </p:spPr>
      </p:sp>
      <p:sp>
        <p:nvSpPr>
          <p:cNvPr id="41" name="Text 38"/>
          <p:cNvSpPr txBox="1"/>
          <p:nvPr/>
        </p:nvSpPr>
        <p:spPr>
          <a:xfrm>
            <a:off x="9881372" y="5001768"/>
            <a:ext cx="1487363" cy="914400"/>
          </a:xfrm>
          <a:prstGeom prst="rect">
            <a:avLst/>
          </a:prstGeom>
          <a:noFill/>
          <a:ln/>
        </p:spPr>
        <p:txBody>
          <a:bodyPr wrap="square" lIns="0" tIns="0" rIns="0" bIns="0" rtlCol="0" anchor="ctr"/>
          <a:lstStyle/>
          <a:p>
            <a:pPr indent="0" marL="0">
              <a:buNone/>
            </a:pPr>
            <a:r>
              <a:rPr lang="en-US" sz="1300" dirty="0">
                <a:solidFill>
                  <a:schemeClr val="tx2"/>
                </a:solidFill>
              </a:rPr>
              <a:t>RQ5  To what extent are the requirements met?</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rPr>
              <a:t>What exists already, and the gap</a:t>
            </a:r>
            <a:endParaRPr lang="en-US" sz="3400" dirty="0"/>
          </a:p>
        </p:txBody>
      </p:sp>
      <p:sp>
        <p:nvSpPr>
          <p:cNvPr id="3" name="Shape 1"/>
          <p:cNvSpPr/>
          <p:nvPr/>
        </p:nvSpPr>
        <p:spPr>
          <a:xfrm>
            <a:off x="548640" y="1371600"/>
            <a:ext cx="3515258" cy="2880360"/>
          </a:xfrm>
          <a:prstGeom prst="roundRect">
            <a:avLst>
              <a:gd name="adj" fmla="val 3175"/>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822960" y="1600200"/>
            <a:ext cx="2966618" cy="411480"/>
          </a:xfrm>
          <a:prstGeom prst="rect">
            <a:avLst/>
          </a:prstGeom>
          <a:noFill/>
          <a:ln/>
        </p:spPr>
        <p:txBody>
          <a:bodyPr wrap="square" lIns="0" tIns="0" rIns="0" bIns="0" rtlCol="0" anchor="t"/>
          <a:lstStyle/>
          <a:p>
            <a:pPr indent="0" marL="0">
              <a:buNone/>
            </a:pPr>
            <a:r>
              <a:rPr lang="en-US" sz="2200" b="1" dirty="0">
                <a:solidFill>
                  <a:schemeClr val="tx2"/>
                </a:solidFill>
              </a:rPr>
              <a:t>InPlace</a:t>
            </a:r>
            <a:endParaRPr lang="en-US" sz="2200" dirty="0"/>
          </a:p>
        </p:txBody>
      </p:sp>
      <p:sp>
        <p:nvSpPr>
          <p:cNvPr id="5" name="Text 3"/>
          <p:cNvSpPr txBox="1"/>
          <p:nvPr/>
        </p:nvSpPr>
        <p:spPr>
          <a:xfrm>
            <a:off x="822960" y="2029968"/>
            <a:ext cx="2966618"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PLACEMENT MANAGEMENT</a:t>
            </a:r>
            <a:endParaRPr lang="en-US" sz="1100" dirty="0"/>
          </a:p>
        </p:txBody>
      </p:sp>
      <p:sp>
        <p:nvSpPr>
          <p:cNvPr id="6" name="Text 4"/>
          <p:cNvSpPr txBox="1"/>
          <p:nvPr/>
        </p:nvSpPr>
        <p:spPr>
          <a:xfrm>
            <a:off x="822960" y="2395728"/>
            <a:ext cx="2966618" cy="822960"/>
          </a:xfrm>
          <a:prstGeom prst="rect">
            <a:avLst/>
          </a:prstGeom>
          <a:noFill/>
          <a:ln/>
        </p:spPr>
        <p:txBody>
          <a:bodyPr wrap="square" lIns="0" tIns="0" rIns="0" bIns="0" rtlCol="0" anchor="t"/>
          <a:lstStyle/>
          <a:p>
            <a:pPr indent="0" marL="0">
              <a:buNone/>
            </a:pPr>
            <a:r>
              <a:rPr lang="en-US" sz="1500" dirty="0">
                <a:solidFill>
                  <a:schemeClr val="tx1"/>
                </a:solidFill>
              </a:rPr>
              <a:t>Institution-wide placements, timesheets, compliance and reporting</a:t>
            </a:r>
            <a:endParaRPr lang="en-US" sz="1500" dirty="0"/>
          </a:p>
        </p:txBody>
      </p:sp>
      <p:sp>
        <p:nvSpPr>
          <p:cNvPr id="7" name="Text 5"/>
          <p:cNvSpPr txBox="1"/>
          <p:nvPr/>
        </p:nvSpPr>
        <p:spPr>
          <a:xfrm>
            <a:off x="822960" y="3383280"/>
            <a:ext cx="2966618" cy="731520"/>
          </a:xfrm>
          <a:prstGeom prst="rect">
            <a:avLst/>
          </a:prstGeom>
          <a:noFill/>
          <a:ln/>
        </p:spPr>
        <p:txBody>
          <a:bodyPr wrap="square" lIns="0" tIns="0" rIns="0" bIns="0" rtlCol="0" anchor="t"/>
          <a:lstStyle/>
          <a:p>
            <a:pPr indent="0" marL="0">
              <a:buNone/>
            </a:pPr>
            <a:r>
              <a:rPr lang="en-US" sz="1300" b="1" dirty="0">
                <a:solidFill>
                  <a:schemeClr val="accent5"/>
                </a:solidFill>
              </a:rPr>
              <a:t>For TrackWIL: </a:t>
            </a:r>
            <a:pPr indent="0" marL="0">
              <a:buNone/>
            </a:pPr>
            <a:r>
              <a:rPr lang="en-US" sz="1300" dirty="0">
                <a:solidFill>
                  <a:schemeClr val="accent5"/>
                </a:solidFill>
              </a:rPr>
              <a:t>Keep the workflow small and focused on daily logbooks</a:t>
            </a:r>
            <a:endParaRPr lang="en-US" sz="1300" dirty="0"/>
          </a:p>
        </p:txBody>
      </p:sp>
      <p:sp>
        <p:nvSpPr>
          <p:cNvPr id="8" name="Shape 6"/>
          <p:cNvSpPr/>
          <p:nvPr/>
        </p:nvSpPr>
        <p:spPr>
          <a:xfrm>
            <a:off x="4338218" y="1371600"/>
            <a:ext cx="3515258" cy="2880360"/>
          </a:xfrm>
          <a:prstGeom prst="roundRect">
            <a:avLst>
              <a:gd name="adj" fmla="val 3175"/>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9" name="Text 7"/>
          <p:cNvSpPr txBox="1"/>
          <p:nvPr/>
        </p:nvSpPr>
        <p:spPr>
          <a:xfrm>
            <a:off x="4612538" y="1600200"/>
            <a:ext cx="2966618" cy="411480"/>
          </a:xfrm>
          <a:prstGeom prst="rect">
            <a:avLst/>
          </a:prstGeom>
          <a:noFill/>
          <a:ln/>
        </p:spPr>
        <p:txBody>
          <a:bodyPr wrap="square" lIns="0" tIns="0" rIns="0" bIns="0" rtlCol="0" anchor="t"/>
          <a:lstStyle/>
          <a:p>
            <a:pPr indent="0" marL="0">
              <a:buNone/>
            </a:pPr>
            <a:r>
              <a:rPr lang="en-US" sz="2200" b="1" dirty="0">
                <a:solidFill>
                  <a:schemeClr val="tx2"/>
                </a:solidFill>
              </a:rPr>
              <a:t>Sonia Online</a:t>
            </a:r>
            <a:endParaRPr lang="en-US" sz="2200" dirty="0"/>
          </a:p>
        </p:txBody>
      </p:sp>
      <p:sp>
        <p:nvSpPr>
          <p:cNvPr id="10" name="Text 8"/>
          <p:cNvSpPr txBox="1"/>
          <p:nvPr/>
        </p:nvSpPr>
        <p:spPr>
          <a:xfrm>
            <a:off x="4612538" y="2029968"/>
            <a:ext cx="2966618"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PLACEMENT MANAGEMENT</a:t>
            </a:r>
            <a:endParaRPr lang="en-US" sz="1100" dirty="0"/>
          </a:p>
        </p:txBody>
      </p:sp>
      <p:sp>
        <p:nvSpPr>
          <p:cNvPr id="11" name="Text 9"/>
          <p:cNvSpPr txBox="1"/>
          <p:nvPr/>
        </p:nvSpPr>
        <p:spPr>
          <a:xfrm>
            <a:off x="4612538" y="2395728"/>
            <a:ext cx="2966618" cy="822960"/>
          </a:xfrm>
          <a:prstGeom prst="rect">
            <a:avLst/>
          </a:prstGeom>
          <a:noFill/>
          <a:ln/>
        </p:spPr>
        <p:txBody>
          <a:bodyPr wrap="square" lIns="0" tIns="0" rIns="0" bIns="0" rtlCol="0" anchor="t"/>
          <a:lstStyle/>
          <a:p>
            <a:pPr indent="0" marL="0">
              <a:buNone/>
            </a:pPr>
            <a:r>
              <a:rPr lang="en-US" sz="1500" dirty="0">
                <a:solidFill>
                  <a:schemeClr val="tx1"/>
                </a:solidFill>
              </a:rPr>
              <a:t>Placement information and paperwork for students and host organisations</a:t>
            </a:r>
            <a:endParaRPr lang="en-US" sz="1500" dirty="0"/>
          </a:p>
        </p:txBody>
      </p:sp>
      <p:sp>
        <p:nvSpPr>
          <p:cNvPr id="12" name="Text 10"/>
          <p:cNvSpPr txBox="1"/>
          <p:nvPr/>
        </p:nvSpPr>
        <p:spPr>
          <a:xfrm>
            <a:off x="4612538" y="3383280"/>
            <a:ext cx="2966618" cy="731520"/>
          </a:xfrm>
          <a:prstGeom prst="rect">
            <a:avLst/>
          </a:prstGeom>
          <a:noFill/>
          <a:ln/>
        </p:spPr>
        <p:txBody>
          <a:bodyPr wrap="square" lIns="0" tIns="0" rIns="0" bIns="0" rtlCol="0" anchor="t"/>
          <a:lstStyle/>
          <a:p>
            <a:pPr indent="0" marL="0">
              <a:buNone/>
            </a:pPr>
            <a:r>
              <a:rPr lang="en-US" sz="1300" b="1" dirty="0">
                <a:solidFill>
                  <a:schemeClr val="accent5"/>
                </a:solidFill>
              </a:rPr>
              <a:t>For TrackWIL: </a:t>
            </a:r>
            <a:pPr indent="0" marL="0">
              <a:buNone/>
            </a:pPr>
            <a:r>
              <a:rPr lang="en-US" sz="1300" dirty="0">
                <a:solidFill>
                  <a:schemeClr val="accent5"/>
                </a:solidFill>
              </a:rPr>
              <a:t>Keep paperwork in one organised place</a:t>
            </a:r>
            <a:endParaRPr lang="en-US" sz="1300" dirty="0"/>
          </a:p>
        </p:txBody>
      </p:sp>
      <p:sp>
        <p:nvSpPr>
          <p:cNvPr id="13" name="Shape 11"/>
          <p:cNvSpPr/>
          <p:nvPr/>
        </p:nvSpPr>
        <p:spPr>
          <a:xfrm>
            <a:off x="8127797" y="1371600"/>
            <a:ext cx="3515258" cy="2880360"/>
          </a:xfrm>
          <a:prstGeom prst="roundRect">
            <a:avLst>
              <a:gd name="adj" fmla="val 3175"/>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4" name="Text 12"/>
          <p:cNvSpPr txBox="1"/>
          <p:nvPr/>
        </p:nvSpPr>
        <p:spPr>
          <a:xfrm>
            <a:off x="8402117" y="1600200"/>
            <a:ext cx="2966618" cy="411480"/>
          </a:xfrm>
          <a:prstGeom prst="rect">
            <a:avLst/>
          </a:prstGeom>
          <a:noFill/>
          <a:ln/>
        </p:spPr>
        <p:txBody>
          <a:bodyPr wrap="square" lIns="0" tIns="0" rIns="0" bIns="0" rtlCol="0" anchor="t"/>
          <a:lstStyle/>
          <a:p>
            <a:pPr indent="0" marL="0">
              <a:buNone/>
            </a:pPr>
            <a:r>
              <a:rPr lang="en-US" sz="2200" b="1" dirty="0">
                <a:solidFill>
                  <a:schemeClr val="tx2"/>
                </a:solidFill>
              </a:rPr>
              <a:t>Mahara / PebblePad</a:t>
            </a:r>
            <a:endParaRPr lang="en-US" sz="2200" dirty="0"/>
          </a:p>
        </p:txBody>
      </p:sp>
      <p:sp>
        <p:nvSpPr>
          <p:cNvPr id="15" name="Text 13"/>
          <p:cNvSpPr txBox="1"/>
          <p:nvPr/>
        </p:nvSpPr>
        <p:spPr>
          <a:xfrm>
            <a:off x="8402117" y="2029968"/>
            <a:ext cx="2966618"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EPORTFOLIO AND ASSESSMENT</a:t>
            </a:r>
            <a:endParaRPr lang="en-US" sz="1100" dirty="0"/>
          </a:p>
        </p:txBody>
      </p:sp>
      <p:sp>
        <p:nvSpPr>
          <p:cNvPr id="16" name="Text 14"/>
          <p:cNvSpPr txBox="1"/>
          <p:nvPr/>
        </p:nvSpPr>
        <p:spPr>
          <a:xfrm>
            <a:off x="8402117" y="2395728"/>
            <a:ext cx="2966618" cy="822960"/>
          </a:xfrm>
          <a:prstGeom prst="rect">
            <a:avLst/>
          </a:prstGeom>
          <a:noFill/>
          <a:ln/>
        </p:spPr>
        <p:txBody>
          <a:bodyPr wrap="square" lIns="0" tIns="0" rIns="0" bIns="0" rtlCol="0" anchor="t"/>
          <a:lstStyle/>
          <a:p>
            <a:pPr indent="0" marL="0">
              <a:buNone/>
            </a:pPr>
            <a:r>
              <a:rPr lang="en-US" sz="1500" dirty="0">
                <a:solidFill>
                  <a:schemeClr val="tx1"/>
                </a:solidFill>
              </a:rPr>
              <a:t>Evidence collection, reflection and review by assessors</a:t>
            </a:r>
            <a:endParaRPr lang="en-US" sz="1500" dirty="0"/>
          </a:p>
        </p:txBody>
      </p:sp>
      <p:sp>
        <p:nvSpPr>
          <p:cNvPr id="17" name="Text 15"/>
          <p:cNvSpPr txBox="1"/>
          <p:nvPr/>
        </p:nvSpPr>
        <p:spPr>
          <a:xfrm>
            <a:off x="8402117" y="3383280"/>
            <a:ext cx="2966618" cy="731520"/>
          </a:xfrm>
          <a:prstGeom prst="rect">
            <a:avLst/>
          </a:prstGeom>
          <a:noFill/>
          <a:ln/>
        </p:spPr>
        <p:txBody>
          <a:bodyPr wrap="square" lIns="0" tIns="0" rIns="0" bIns="0" rtlCol="0" anchor="t"/>
          <a:lstStyle/>
          <a:p>
            <a:pPr indent="0" marL="0">
              <a:buNone/>
            </a:pPr>
            <a:r>
              <a:rPr lang="en-US" sz="1300" b="1" dirty="0">
                <a:solidFill>
                  <a:schemeClr val="accent5"/>
                </a:solidFill>
              </a:rPr>
              <a:t>For TrackWIL: </a:t>
            </a:r>
            <a:pPr indent="0" marL="0">
              <a:buNone/>
            </a:pPr>
            <a:r>
              <a:rPr lang="en-US" sz="1300" dirty="0">
                <a:solidFill>
                  <a:schemeClr val="accent5"/>
                </a:solidFill>
              </a:rPr>
              <a:t>Link each piece of evidence to a dated, verified entry</a:t>
            </a:r>
            <a:endParaRPr lang="en-US" sz="1300" dirty="0"/>
          </a:p>
        </p:txBody>
      </p:sp>
      <p:sp>
        <p:nvSpPr>
          <p:cNvPr id="18" name="Shape 16"/>
          <p:cNvSpPr/>
          <p:nvPr/>
        </p:nvSpPr>
        <p:spPr>
          <a:xfrm>
            <a:off x="548640" y="4526280"/>
            <a:ext cx="11094415" cy="1371600"/>
          </a:xfrm>
          <a:prstGeom prst="roundRect">
            <a:avLst>
              <a:gd name="adj" fmla="val 6667"/>
            </a:avLst>
          </a:prstGeom>
          <a:solidFill>
            <a:schemeClr val="bg2"/>
          </a:solidFill>
          <a:ln w="12700">
            <a:solidFill>
              <a:schemeClr val="bg2"/>
            </a:solidFill>
            <a:prstDash val="solid"/>
          </a:ln>
        </p:spPr>
      </p:sp>
      <p:sp>
        <p:nvSpPr>
          <p:cNvPr id="19" name="Shape 17"/>
          <p:cNvSpPr/>
          <p:nvPr/>
        </p:nvSpPr>
        <p:spPr>
          <a:xfrm>
            <a:off x="822960" y="4818888"/>
            <a:ext cx="777240" cy="777240"/>
          </a:xfrm>
          <a:prstGeom prst="ellipse">
            <a:avLst/>
          </a:prstGeom>
          <a:solidFill>
            <a:schemeClr val="accent1"/>
          </a:solidFill>
          <a:ln/>
        </p:spPr>
      </p:sp>
      <p:pic>
        <p:nvPicPr>
          <p:cNvPr id="20" name="Image 0" descr="preencoded.png">    </p:cNvPr>
          <p:cNvPicPr>
            <a:picLocks noChangeAspect="1"/>
          </p:cNvPicPr>
          <p:nvPr/>
        </p:nvPicPr>
        <p:blipFill>
          <a:blip r:embed="rId1"/>
          <a:stretch>
            <a:fillRect/>
          </a:stretch>
        </p:blipFill>
        <p:spPr>
          <a:xfrm>
            <a:off x="1017270" y="5013198"/>
            <a:ext cx="388620" cy="388620"/>
          </a:xfrm>
          <a:prstGeom prst="rect">
            <a:avLst/>
          </a:prstGeom>
        </p:spPr>
      </p:pic>
      <p:sp>
        <p:nvSpPr>
          <p:cNvPr id="21" name="Text 18"/>
          <p:cNvSpPr txBox="1"/>
          <p:nvPr/>
        </p:nvSpPr>
        <p:spPr>
          <a:xfrm>
            <a:off x="1874520" y="4617720"/>
            <a:ext cx="9509760" cy="1188720"/>
          </a:xfrm>
          <a:prstGeom prst="rect">
            <a:avLst/>
          </a:prstGeom>
          <a:noFill/>
          <a:ln/>
        </p:spPr>
        <p:txBody>
          <a:bodyPr wrap="square" lIns="0" tIns="0" rIns="0" bIns="0" rtlCol="0" anchor="ctr"/>
          <a:lstStyle/>
          <a:p>
            <a:pPr indent="0" marL="0">
              <a:buNone/>
            </a:pPr>
            <a:r>
              <a:rPr lang="en-US" sz="1700" b="1" dirty="0">
                <a:solidFill>
                  <a:schemeClr val="accent1"/>
                </a:solidFill>
              </a:rPr>
              <a:t>The gap  </a:t>
            </a:r>
            <a:pPr indent="0" marL="0">
              <a:buNone/>
            </a:pPr>
            <a:r>
              <a:rPr lang="en-US" sz="1700" dirty="0">
                <a:solidFill>
                  <a:schemeClr val="tx1"/>
                </a:solidFill>
              </a:rPr>
              <a:t>A focused, lightweight workflow: students log each day's work with evidence, a mentor outside the institution verifies it without creating an account, and staff see who is behind in one view.</a:t>
            </a:r>
            <a:endParaRPr lang="en-US" sz="1700" dirty="0"/>
          </a:p>
        </p:txBody>
      </p:sp>
      <p:sp>
        <p:nvSpPr>
          <p:cNvPr id="22" name="Text 19"/>
          <p:cNvSpPr txBox="1"/>
          <p:nvPr/>
        </p:nvSpPr>
        <p:spPr>
          <a:xfrm>
            <a:off x="548640" y="6035040"/>
            <a:ext cx="9144000" cy="274320"/>
          </a:xfrm>
          <a:prstGeom prst="rect">
            <a:avLst/>
          </a:prstGeom>
          <a:noFill/>
          <a:ln/>
        </p:spPr>
        <p:txBody>
          <a:bodyPr wrap="square" lIns="0" tIns="0" rIns="0" bIns="0" rtlCol="0" anchor="t"/>
          <a:lstStyle/>
          <a:p>
            <a:pPr indent="0" marL="0">
              <a:buNone/>
            </a:pPr>
            <a:r>
              <a:rPr lang="en-US" sz="1000" dirty="0">
                <a:solidFill>
                  <a:schemeClr val="accent5"/>
                </a:solidFill>
              </a:rPr>
              <a:t>Compared from public product information: InPlace Software (n.d.), Sonia Online (n.d.), Mahara Project (n.d.), PebblePad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rPr>
              <a:t>Requirements and method</a:t>
            </a:r>
            <a:endParaRPr lang="en-US" sz="3400" dirty="0"/>
          </a:p>
        </p:txBody>
      </p:sp>
      <p:sp>
        <p:nvSpPr>
          <p:cNvPr id="3" name="Text 1"/>
          <p:cNvSpPr txBox="1"/>
          <p:nvPr/>
        </p:nvSpPr>
        <p:spPr>
          <a:xfrm>
            <a:off x="548640" y="1280160"/>
            <a:ext cx="2286000" cy="1005840"/>
          </a:xfrm>
          <a:prstGeom prst="rect">
            <a:avLst/>
          </a:prstGeom>
          <a:noFill/>
          <a:ln/>
        </p:spPr>
        <p:txBody>
          <a:bodyPr wrap="square" lIns="0" tIns="0" rIns="0" bIns="0" rtlCol="0" anchor="t"/>
          <a:lstStyle/>
          <a:p>
            <a:pPr indent="0" marL="0">
              <a:buNone/>
            </a:pPr>
            <a:r>
              <a:rPr lang="en-US" sz="6600" b="1" dirty="0">
                <a:solidFill>
                  <a:schemeClr val="accent1"/>
                </a:solidFill>
              </a:rPr>
              <a:t>18</a:t>
            </a:r>
            <a:endParaRPr lang="en-US" sz="6600" dirty="0"/>
          </a:p>
        </p:txBody>
      </p:sp>
      <p:sp>
        <p:nvSpPr>
          <p:cNvPr id="4" name="Text 2"/>
          <p:cNvSpPr txBox="1"/>
          <p:nvPr/>
        </p:nvSpPr>
        <p:spPr>
          <a:xfrm>
            <a:off x="548640" y="2286000"/>
            <a:ext cx="2286000" cy="594360"/>
          </a:xfrm>
          <a:prstGeom prst="rect">
            <a:avLst/>
          </a:prstGeom>
          <a:noFill/>
          <a:ln/>
        </p:spPr>
        <p:txBody>
          <a:bodyPr wrap="square" lIns="0" tIns="0" rIns="0" bIns="0" rtlCol="0" anchor="t"/>
          <a:lstStyle/>
          <a:p>
            <a:pPr indent="0" marL="0">
              <a:buNone/>
            </a:pPr>
            <a:r>
              <a:rPr lang="en-US" sz="1600" b="1" dirty="0">
                <a:solidFill>
                  <a:schemeClr val="tx2"/>
                </a:solidFill>
              </a:rPr>
              <a:t>functional requirements</a:t>
            </a:r>
            <a:endParaRPr lang="en-US" sz="1600" dirty="0"/>
          </a:p>
        </p:txBody>
      </p:sp>
      <p:sp>
        <p:nvSpPr>
          <p:cNvPr id="5" name="Text 3"/>
          <p:cNvSpPr txBox="1"/>
          <p:nvPr/>
        </p:nvSpPr>
        <p:spPr>
          <a:xfrm>
            <a:off x="548640" y="2880360"/>
            <a:ext cx="2286000" cy="320040"/>
          </a:xfrm>
          <a:prstGeom prst="rect">
            <a:avLst/>
          </a:prstGeom>
          <a:noFill/>
          <a:ln/>
        </p:spPr>
        <p:txBody>
          <a:bodyPr wrap="square" lIns="0" tIns="0" rIns="0" bIns="0" rtlCol="0" anchor="t"/>
          <a:lstStyle/>
          <a:p>
            <a:pPr indent="0" marL="0">
              <a:buNone/>
            </a:pPr>
            <a:r>
              <a:rPr lang="en-US" sz="1300" dirty="0">
                <a:solidFill>
                  <a:schemeClr val="accent5"/>
                </a:solidFill>
              </a:rPr>
              <a:t>prioritised and testable</a:t>
            </a:r>
            <a:endParaRPr lang="en-US" sz="1300" dirty="0"/>
          </a:p>
        </p:txBody>
      </p:sp>
      <p:sp>
        <p:nvSpPr>
          <p:cNvPr id="6" name="Text 4"/>
          <p:cNvSpPr txBox="1"/>
          <p:nvPr/>
        </p:nvSpPr>
        <p:spPr>
          <a:xfrm>
            <a:off x="3063240" y="1280160"/>
            <a:ext cx="2286000" cy="1005840"/>
          </a:xfrm>
          <a:prstGeom prst="rect">
            <a:avLst/>
          </a:prstGeom>
          <a:noFill/>
          <a:ln/>
        </p:spPr>
        <p:txBody>
          <a:bodyPr wrap="square" lIns="0" tIns="0" rIns="0" bIns="0" rtlCol="0" anchor="t"/>
          <a:lstStyle/>
          <a:p>
            <a:pPr indent="0" marL="0">
              <a:buNone/>
            </a:pPr>
            <a:r>
              <a:rPr lang="en-US" sz="6600" b="1" dirty="0">
                <a:solidFill>
                  <a:schemeClr val="accent1"/>
                </a:solidFill>
              </a:rPr>
              <a:t>7</a:t>
            </a:r>
            <a:endParaRPr lang="en-US" sz="6600" dirty="0"/>
          </a:p>
        </p:txBody>
      </p:sp>
      <p:sp>
        <p:nvSpPr>
          <p:cNvPr id="7" name="Text 5"/>
          <p:cNvSpPr txBox="1"/>
          <p:nvPr/>
        </p:nvSpPr>
        <p:spPr>
          <a:xfrm>
            <a:off x="3063240" y="2286000"/>
            <a:ext cx="2286000" cy="594360"/>
          </a:xfrm>
          <a:prstGeom prst="rect">
            <a:avLst/>
          </a:prstGeom>
          <a:noFill/>
          <a:ln/>
        </p:spPr>
        <p:txBody>
          <a:bodyPr wrap="square" lIns="0" tIns="0" rIns="0" bIns="0" rtlCol="0" anchor="t"/>
          <a:lstStyle/>
          <a:p>
            <a:pPr indent="0" marL="0">
              <a:buNone/>
            </a:pPr>
            <a:r>
              <a:rPr lang="en-US" sz="1600" b="1" dirty="0">
                <a:solidFill>
                  <a:schemeClr val="tx2"/>
                </a:solidFill>
              </a:rPr>
              <a:t>non-functional requirements</a:t>
            </a:r>
            <a:endParaRPr lang="en-US" sz="1600" dirty="0"/>
          </a:p>
        </p:txBody>
      </p:sp>
      <p:sp>
        <p:nvSpPr>
          <p:cNvPr id="8" name="Text 6"/>
          <p:cNvSpPr txBox="1"/>
          <p:nvPr/>
        </p:nvSpPr>
        <p:spPr>
          <a:xfrm>
            <a:off x="3063240" y="2880360"/>
            <a:ext cx="2286000" cy="320040"/>
          </a:xfrm>
          <a:prstGeom prst="rect">
            <a:avLst/>
          </a:prstGeom>
          <a:noFill/>
          <a:ln/>
        </p:spPr>
        <p:txBody>
          <a:bodyPr wrap="square" lIns="0" tIns="0" rIns="0" bIns="0" rtlCol="0" anchor="t"/>
          <a:lstStyle/>
          <a:p>
            <a:pPr indent="0" marL="0">
              <a:buNone/>
            </a:pPr>
            <a:r>
              <a:rPr lang="en-US" sz="1300" dirty="0">
                <a:solidFill>
                  <a:schemeClr val="accent5"/>
                </a:solidFill>
              </a:rPr>
              <a:t>each with a measurable target</a:t>
            </a:r>
            <a:endParaRPr lang="en-US" sz="1300" dirty="0"/>
          </a:p>
        </p:txBody>
      </p:sp>
      <p:sp>
        <p:nvSpPr>
          <p:cNvPr id="9" name="Shape 7"/>
          <p:cNvSpPr/>
          <p:nvPr/>
        </p:nvSpPr>
        <p:spPr>
          <a:xfrm>
            <a:off x="5852160" y="1325880"/>
            <a:ext cx="5790895" cy="2011680"/>
          </a:xfrm>
          <a:prstGeom prst="roundRect">
            <a:avLst>
              <a:gd name="adj" fmla="val 4545"/>
            </a:avLst>
          </a:prstGeom>
          <a:solidFill>
            <a:schemeClr val="bg2"/>
          </a:solidFill>
          <a:ln w="12700">
            <a:solidFill>
              <a:schemeClr val="bg2"/>
            </a:solidFill>
            <a:prstDash val="solid"/>
          </a:ln>
        </p:spPr>
      </p:sp>
      <p:sp>
        <p:nvSpPr>
          <p:cNvPr id="10" name="Text 8"/>
          <p:cNvSpPr txBox="1"/>
          <p:nvPr/>
        </p:nvSpPr>
        <p:spPr>
          <a:xfrm>
            <a:off x="6126480" y="1463040"/>
            <a:ext cx="5303520" cy="365760"/>
          </a:xfrm>
          <a:prstGeom prst="rect">
            <a:avLst/>
          </a:prstGeom>
          <a:noFill/>
          <a:ln/>
        </p:spPr>
        <p:txBody>
          <a:bodyPr wrap="square" lIns="0" tIns="0" rIns="0" bIns="0" rtlCol="0" anchor="t"/>
          <a:lstStyle/>
          <a:p>
            <a:pPr indent="0" marL="0">
              <a:buNone/>
            </a:pPr>
            <a:r>
              <a:rPr lang="en-US" sz="1600" b="1" dirty="0">
                <a:solidFill>
                  <a:schemeClr val="tx2"/>
                </a:solidFill>
              </a:rPr>
              <a:t>What the requirements cover</a:t>
            </a:r>
            <a:endParaRPr lang="en-US" sz="1600" dirty="0"/>
          </a:p>
        </p:txBody>
      </p:sp>
      <p:sp>
        <p:nvSpPr>
          <p:cNvPr id="11" name="Text 9"/>
          <p:cNvSpPr txBox="1"/>
          <p:nvPr/>
        </p:nvSpPr>
        <p:spPr>
          <a:xfrm>
            <a:off x="6126480" y="1874520"/>
            <a:ext cx="5303520" cy="137160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Sign-up, sign-in and role-based access</a:t>
            </a:r>
            <a:endParaRPr lang="en-US" sz="1400" dirty="0"/>
          </a:p>
          <a:p>
            <a:pPr marL="342900" indent="-342900">
              <a:spcAft>
                <a:spcPts val="300"/>
              </a:spcAft>
              <a:buSzPct val="100000"/>
              <a:buChar char="•"/>
            </a:pPr>
            <a:r>
              <a:rPr lang="en-US" sz="1400" dirty="0">
                <a:solidFill>
                  <a:schemeClr val="tx1"/>
                </a:solidFill>
              </a:rPr>
              <a:t>WIL placements, daily entries, evidence and documents</a:t>
            </a:r>
            <a:endParaRPr lang="en-US" sz="1400" dirty="0"/>
          </a:p>
          <a:p>
            <a:pPr marL="342900" indent="-342900">
              <a:spcAft>
                <a:spcPts val="300"/>
              </a:spcAft>
              <a:buSzPct val="100000"/>
              <a:buChar char="•"/>
            </a:pPr>
            <a:r>
              <a:rPr lang="en-US" sz="1400" dirty="0">
                <a:solidFill>
                  <a:schemeClr val="tx1"/>
                </a:solidFill>
              </a:rPr>
              <a:t>One-time mentor link; staff dashboard and profiles</a:t>
            </a:r>
            <a:endParaRPr lang="en-US" sz="1400" dirty="0"/>
          </a:p>
          <a:p>
            <a:pPr marL="342900" indent="-342900">
              <a:spcAft>
                <a:spcPts val="300"/>
              </a:spcAft>
              <a:buSzPct val="100000"/>
              <a:buChar char="•"/>
            </a:pPr>
            <a:r>
              <a:rPr lang="en-US" sz="1400" dirty="0">
                <a:solidFill>
                  <a:schemeClr val="tx1"/>
                </a:solidFill>
              </a:rPr>
              <a:t>Targets: pages under 2 s, hashed passwords, 375 px phones</a:t>
            </a:r>
            <a:endParaRPr lang="en-US" sz="1400" dirty="0"/>
          </a:p>
        </p:txBody>
      </p:sp>
      <p:sp>
        <p:nvSpPr>
          <p:cNvPr id="12" name="Text 10"/>
          <p:cNvSpPr txBox="1"/>
          <p:nvPr/>
        </p:nvSpPr>
        <p:spPr>
          <a:xfrm>
            <a:off x="548640" y="3611880"/>
            <a:ext cx="10972800" cy="365760"/>
          </a:xfrm>
          <a:prstGeom prst="rect">
            <a:avLst/>
          </a:prstGeom>
          <a:noFill/>
          <a:ln/>
        </p:spPr>
        <p:txBody>
          <a:bodyPr wrap="square" lIns="0" tIns="0" rIns="0" bIns="0" rtlCol="0" anchor="t"/>
          <a:lstStyle/>
          <a:p>
            <a:pPr indent="0" marL="0">
              <a:buNone/>
            </a:pPr>
            <a:r>
              <a:rPr lang="en-US" sz="1700" b="1" dirty="0">
                <a:solidFill>
                  <a:schemeClr val="tx2"/>
                </a:solidFill>
              </a:rPr>
              <a:t>Hybrid Agile (Scrum): four one-week sprints, each ending on a Friday submission</a:t>
            </a:r>
            <a:endParaRPr lang="en-US" sz="1700" dirty="0"/>
          </a:p>
        </p:txBody>
      </p:sp>
      <p:sp>
        <p:nvSpPr>
          <p:cNvPr id="13" name="Shape 11"/>
          <p:cNvSpPr/>
          <p:nvPr/>
        </p:nvSpPr>
        <p:spPr>
          <a:xfrm>
            <a:off x="548640" y="4114800"/>
            <a:ext cx="2807894" cy="594360"/>
          </a:xfrm>
          <a:prstGeom prst="homePlate">
            <a:avLst/>
          </a:prstGeom>
          <a:solidFill>
            <a:schemeClr val="accent1"/>
          </a:solidFill>
          <a:ln/>
        </p:spPr>
      </p:sp>
      <p:sp>
        <p:nvSpPr>
          <p:cNvPr id="14" name="Text 12"/>
          <p:cNvSpPr txBox="1"/>
          <p:nvPr/>
        </p:nvSpPr>
        <p:spPr>
          <a:xfrm>
            <a:off x="868680" y="4114800"/>
            <a:ext cx="2213534" cy="594360"/>
          </a:xfrm>
          <a:prstGeom prst="rect">
            <a:avLst/>
          </a:prstGeom>
          <a:noFill/>
          <a:ln/>
        </p:spPr>
        <p:txBody>
          <a:bodyPr wrap="square" lIns="0" tIns="0" rIns="0" bIns="0" rtlCol="0" anchor="ctr"/>
          <a:lstStyle/>
          <a:p>
            <a:pPr indent="0" marL="0">
              <a:buNone/>
            </a:pPr>
            <a:r>
              <a:rPr lang="en-US" sz="1500" b="1" dirty="0">
                <a:solidFill>
                  <a:schemeClr val="bg1"/>
                </a:solidFill>
              </a:rPr>
              <a:t>Sprint 0  ·  2–8 Oct</a:t>
            </a:r>
            <a:endParaRPr lang="en-US" sz="1500" dirty="0"/>
          </a:p>
        </p:txBody>
      </p:sp>
      <p:sp>
        <p:nvSpPr>
          <p:cNvPr id="15" name="Text 13"/>
          <p:cNvSpPr txBox="1"/>
          <p:nvPr/>
        </p:nvSpPr>
        <p:spPr>
          <a:xfrm>
            <a:off x="640080" y="4846320"/>
            <a:ext cx="2487854" cy="640080"/>
          </a:xfrm>
          <a:prstGeom prst="rect">
            <a:avLst/>
          </a:prstGeom>
          <a:noFill/>
          <a:ln/>
        </p:spPr>
        <p:txBody>
          <a:bodyPr wrap="square" lIns="0" tIns="0" rIns="0" bIns="0" rtlCol="0" anchor="t"/>
          <a:lstStyle/>
          <a:p>
            <a:pPr indent="0" marL="0">
              <a:buNone/>
            </a:pPr>
            <a:r>
              <a:rPr lang="en-US" sz="1400" dirty="0">
                <a:solidFill>
                  <a:schemeClr val="tx1"/>
                </a:solidFill>
              </a:rPr>
              <a:t>Proposal, scope and requirements</a:t>
            </a:r>
            <a:endParaRPr lang="en-US" sz="1400" dirty="0"/>
          </a:p>
        </p:txBody>
      </p:sp>
      <p:sp>
        <p:nvSpPr>
          <p:cNvPr id="16" name="Shape 14"/>
          <p:cNvSpPr/>
          <p:nvPr/>
        </p:nvSpPr>
        <p:spPr>
          <a:xfrm>
            <a:off x="3356534" y="4114800"/>
            <a:ext cx="2807894" cy="594360"/>
          </a:xfrm>
          <a:prstGeom prst="chevron">
            <a:avLst/>
          </a:prstGeom>
          <a:solidFill>
            <a:schemeClr val="accent1"/>
          </a:solidFill>
          <a:ln/>
        </p:spPr>
      </p:sp>
      <p:sp>
        <p:nvSpPr>
          <p:cNvPr id="17" name="Text 15"/>
          <p:cNvSpPr txBox="1"/>
          <p:nvPr/>
        </p:nvSpPr>
        <p:spPr>
          <a:xfrm>
            <a:off x="3676574" y="4114800"/>
            <a:ext cx="2213534" cy="594360"/>
          </a:xfrm>
          <a:prstGeom prst="rect">
            <a:avLst/>
          </a:prstGeom>
          <a:noFill/>
          <a:ln/>
        </p:spPr>
        <p:txBody>
          <a:bodyPr wrap="square" lIns="0" tIns="0" rIns="0" bIns="0" rtlCol="0" anchor="ctr"/>
          <a:lstStyle/>
          <a:p>
            <a:pPr indent="0" marL="0">
              <a:buNone/>
            </a:pPr>
            <a:r>
              <a:rPr lang="en-US" sz="1500" b="1" dirty="0">
                <a:solidFill>
                  <a:schemeClr val="bg1"/>
                </a:solidFill>
              </a:rPr>
              <a:t>Sprint 1  ·  9–15 Oct</a:t>
            </a:r>
            <a:endParaRPr lang="en-US" sz="1500" dirty="0"/>
          </a:p>
        </p:txBody>
      </p:sp>
      <p:sp>
        <p:nvSpPr>
          <p:cNvPr id="18" name="Text 16"/>
          <p:cNvSpPr txBox="1"/>
          <p:nvPr/>
        </p:nvSpPr>
        <p:spPr>
          <a:xfrm>
            <a:off x="3447974" y="4846320"/>
            <a:ext cx="2487854" cy="640080"/>
          </a:xfrm>
          <a:prstGeom prst="rect">
            <a:avLst/>
          </a:prstGeom>
          <a:noFill/>
          <a:ln/>
        </p:spPr>
        <p:txBody>
          <a:bodyPr wrap="square" lIns="0" tIns="0" rIns="0" bIns="0" rtlCol="0" anchor="t"/>
          <a:lstStyle/>
          <a:p>
            <a:pPr indent="0" marL="0">
              <a:buNone/>
            </a:pPr>
            <a:r>
              <a:rPr lang="en-US" sz="1400" dirty="0">
                <a:solidFill>
                  <a:schemeClr val="tx1"/>
                </a:solidFill>
              </a:rPr>
              <a:t>Logbook core: sign-in, entries, evidence</a:t>
            </a:r>
            <a:endParaRPr lang="en-US" sz="1400" dirty="0"/>
          </a:p>
        </p:txBody>
      </p:sp>
      <p:sp>
        <p:nvSpPr>
          <p:cNvPr id="19" name="Shape 17"/>
          <p:cNvSpPr/>
          <p:nvPr/>
        </p:nvSpPr>
        <p:spPr>
          <a:xfrm>
            <a:off x="6164428" y="4114800"/>
            <a:ext cx="2807894" cy="594360"/>
          </a:xfrm>
          <a:prstGeom prst="chevron">
            <a:avLst/>
          </a:prstGeom>
          <a:solidFill>
            <a:schemeClr val="accent1"/>
          </a:solidFill>
          <a:ln/>
        </p:spPr>
      </p:sp>
      <p:sp>
        <p:nvSpPr>
          <p:cNvPr id="20" name="Text 18"/>
          <p:cNvSpPr txBox="1"/>
          <p:nvPr/>
        </p:nvSpPr>
        <p:spPr>
          <a:xfrm>
            <a:off x="6484468" y="4114800"/>
            <a:ext cx="2213534" cy="594360"/>
          </a:xfrm>
          <a:prstGeom prst="rect">
            <a:avLst/>
          </a:prstGeom>
          <a:noFill/>
          <a:ln/>
        </p:spPr>
        <p:txBody>
          <a:bodyPr wrap="square" lIns="0" tIns="0" rIns="0" bIns="0" rtlCol="0" anchor="ctr"/>
          <a:lstStyle/>
          <a:p>
            <a:pPr indent="0" marL="0">
              <a:buNone/>
            </a:pPr>
            <a:r>
              <a:rPr lang="en-US" sz="1500" b="1" dirty="0">
                <a:solidFill>
                  <a:schemeClr val="bg1"/>
                </a:solidFill>
              </a:rPr>
              <a:t>Sprint 2  ·  16–22 Oct</a:t>
            </a:r>
            <a:endParaRPr lang="en-US" sz="1500" dirty="0"/>
          </a:p>
        </p:txBody>
      </p:sp>
      <p:sp>
        <p:nvSpPr>
          <p:cNvPr id="21" name="Text 19"/>
          <p:cNvSpPr txBox="1"/>
          <p:nvPr/>
        </p:nvSpPr>
        <p:spPr>
          <a:xfrm>
            <a:off x="6255868" y="4846320"/>
            <a:ext cx="2487854" cy="640080"/>
          </a:xfrm>
          <a:prstGeom prst="rect">
            <a:avLst/>
          </a:prstGeom>
          <a:noFill/>
          <a:ln/>
        </p:spPr>
        <p:txBody>
          <a:bodyPr wrap="square" lIns="0" tIns="0" rIns="0" bIns="0" rtlCol="0" anchor="t"/>
          <a:lstStyle/>
          <a:p>
            <a:pPr indent="0" marL="0">
              <a:buNone/>
            </a:pPr>
            <a:r>
              <a:rPr lang="en-US" sz="1400" dirty="0">
                <a:solidFill>
                  <a:schemeClr val="tx1"/>
                </a:solidFill>
              </a:rPr>
              <a:t>Verification, dashboard, SQLite database</a:t>
            </a:r>
            <a:endParaRPr lang="en-US" sz="1400" dirty="0"/>
          </a:p>
        </p:txBody>
      </p:sp>
      <p:sp>
        <p:nvSpPr>
          <p:cNvPr id="22" name="Shape 20"/>
          <p:cNvSpPr/>
          <p:nvPr/>
        </p:nvSpPr>
        <p:spPr>
          <a:xfrm>
            <a:off x="8972321" y="4114800"/>
            <a:ext cx="2807894" cy="594360"/>
          </a:xfrm>
          <a:prstGeom prst="chevron">
            <a:avLst/>
          </a:prstGeom>
          <a:solidFill>
            <a:schemeClr val="tx2"/>
          </a:solidFill>
          <a:ln/>
        </p:spPr>
      </p:sp>
      <p:sp>
        <p:nvSpPr>
          <p:cNvPr id="23" name="Text 21"/>
          <p:cNvSpPr txBox="1"/>
          <p:nvPr/>
        </p:nvSpPr>
        <p:spPr>
          <a:xfrm>
            <a:off x="9292361" y="4114800"/>
            <a:ext cx="2213534" cy="594360"/>
          </a:xfrm>
          <a:prstGeom prst="rect">
            <a:avLst/>
          </a:prstGeom>
          <a:noFill/>
          <a:ln/>
        </p:spPr>
        <p:txBody>
          <a:bodyPr wrap="square" lIns="0" tIns="0" rIns="0" bIns="0" rtlCol="0" anchor="ctr"/>
          <a:lstStyle/>
          <a:p>
            <a:pPr indent="0" marL="0">
              <a:buNone/>
            </a:pPr>
            <a:r>
              <a:rPr lang="en-US" sz="1500" b="1" dirty="0">
                <a:solidFill>
                  <a:schemeClr val="bg1"/>
                </a:solidFill>
              </a:rPr>
              <a:t>Sprint 3  ·  23–29 Oct</a:t>
            </a:r>
            <a:endParaRPr lang="en-US" sz="1500" dirty="0"/>
          </a:p>
        </p:txBody>
      </p:sp>
      <p:sp>
        <p:nvSpPr>
          <p:cNvPr id="24" name="Text 22"/>
          <p:cNvSpPr txBox="1"/>
          <p:nvPr/>
        </p:nvSpPr>
        <p:spPr>
          <a:xfrm>
            <a:off x="9063761" y="4846320"/>
            <a:ext cx="2487854" cy="640080"/>
          </a:xfrm>
          <a:prstGeom prst="rect">
            <a:avLst/>
          </a:prstGeom>
          <a:noFill/>
          <a:ln/>
        </p:spPr>
        <p:txBody>
          <a:bodyPr wrap="square" lIns="0" tIns="0" rIns="0" bIns="0" rtlCol="0" anchor="t"/>
          <a:lstStyle/>
          <a:p>
            <a:pPr indent="0" marL="0">
              <a:buNone/>
            </a:pPr>
            <a:r>
              <a:rPr lang="en-US" sz="1400" dirty="0">
                <a:solidFill>
                  <a:schemeClr val="tx1"/>
                </a:solidFill>
              </a:rPr>
              <a:t>Testing, defect fixes, placements, documents</a:t>
            </a:r>
            <a:endParaRPr lang="en-US" sz="1400" dirty="0"/>
          </a:p>
        </p:txBody>
      </p:sp>
      <p:sp>
        <p:nvSpPr>
          <p:cNvPr id="25" name="Text 23"/>
          <p:cNvSpPr txBox="1"/>
          <p:nvPr/>
        </p:nvSpPr>
        <p:spPr>
          <a:xfrm>
            <a:off x="548640" y="5760720"/>
            <a:ext cx="10972800" cy="320040"/>
          </a:xfrm>
          <a:prstGeom prst="rect">
            <a:avLst/>
          </a:prstGeom>
          <a:noFill/>
          <a:ln/>
        </p:spPr>
        <p:txBody>
          <a:bodyPr wrap="square" lIns="0" tIns="0" rIns="0" bIns="0" rtlCol="0" anchor="t"/>
          <a:lstStyle/>
          <a:p>
            <a:pPr indent="0" marL="0">
              <a:buNone/>
            </a:pPr>
            <a:r>
              <a:rPr lang="en-US" sz="1300" i="1" dirty="0">
                <a:solidFill>
                  <a:schemeClr val="accent5"/>
                </a:solidFill>
              </a:rPr>
              <a:t>Waterfall rejected: requirements kept changing and all testing would have come at the end.</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rPr>
              <a:t>Design: one application, three layers, five tables</a:t>
            </a:r>
            <a:endParaRPr lang="en-US" sz="3400" dirty="0"/>
          </a:p>
        </p:txBody>
      </p:sp>
      <p:sp>
        <p:nvSpPr>
          <p:cNvPr id="3" name="Shape 1"/>
          <p:cNvSpPr/>
          <p:nvPr/>
        </p:nvSpPr>
        <p:spPr>
          <a:xfrm>
            <a:off x="548640" y="1325880"/>
            <a:ext cx="502920" cy="50292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674370" y="1451610"/>
            <a:ext cx="251460" cy="251460"/>
          </a:xfrm>
          <a:prstGeom prst="rect">
            <a:avLst/>
          </a:prstGeom>
        </p:spPr>
      </p:pic>
      <p:sp>
        <p:nvSpPr>
          <p:cNvPr id="5" name="Text 2"/>
          <p:cNvSpPr txBox="1"/>
          <p:nvPr/>
        </p:nvSpPr>
        <p:spPr>
          <a:xfrm>
            <a:off x="1188720" y="1325880"/>
            <a:ext cx="2875178" cy="502920"/>
          </a:xfrm>
          <a:prstGeom prst="rect">
            <a:avLst/>
          </a:prstGeom>
          <a:noFill/>
          <a:ln/>
        </p:spPr>
        <p:txBody>
          <a:bodyPr wrap="square" lIns="0" tIns="0" rIns="0" bIns="0" rtlCol="0" anchor="ctr"/>
          <a:lstStyle/>
          <a:p>
            <a:pPr indent="0" marL="0">
              <a:buNone/>
            </a:pPr>
            <a:r>
              <a:rPr lang="en-US" sz="1900" b="1" dirty="0">
                <a:solidFill>
                  <a:schemeClr val="tx2"/>
                </a:solidFill>
              </a:rPr>
              <a:t>Architecture</a:t>
            </a:r>
            <a:endParaRPr lang="en-US" sz="1900" dirty="0"/>
          </a:p>
        </p:txBody>
      </p:sp>
      <p:sp>
        <p:nvSpPr>
          <p:cNvPr id="6" name="Shape 3"/>
          <p:cNvSpPr/>
          <p:nvPr/>
        </p:nvSpPr>
        <p:spPr>
          <a:xfrm>
            <a:off x="4338218" y="1325880"/>
            <a:ext cx="502920" cy="502920"/>
          </a:xfrm>
          <a:prstGeom prst="ellipse">
            <a:avLst/>
          </a:prstGeom>
          <a:solidFill>
            <a:schemeClr val="accent1"/>
          </a:solidFill>
          <a:ln/>
        </p:spPr>
      </p:sp>
      <p:pic>
        <p:nvPicPr>
          <p:cNvPr id="7" name="Image 1" descr="preencoded.png">    </p:cNvPr>
          <p:cNvPicPr>
            <a:picLocks noChangeAspect="1"/>
          </p:cNvPicPr>
          <p:nvPr/>
        </p:nvPicPr>
        <p:blipFill>
          <a:blip r:embed="rId2"/>
          <a:stretch>
            <a:fillRect/>
          </a:stretch>
        </p:blipFill>
        <p:spPr>
          <a:xfrm>
            <a:off x="4463948" y="1451610"/>
            <a:ext cx="251460" cy="251460"/>
          </a:xfrm>
          <a:prstGeom prst="rect">
            <a:avLst/>
          </a:prstGeom>
        </p:spPr>
      </p:pic>
      <p:sp>
        <p:nvSpPr>
          <p:cNvPr id="8" name="Text 4"/>
          <p:cNvSpPr txBox="1"/>
          <p:nvPr/>
        </p:nvSpPr>
        <p:spPr>
          <a:xfrm>
            <a:off x="4978298" y="1325880"/>
            <a:ext cx="2875178" cy="502920"/>
          </a:xfrm>
          <a:prstGeom prst="rect">
            <a:avLst/>
          </a:prstGeom>
          <a:noFill/>
          <a:ln/>
        </p:spPr>
        <p:txBody>
          <a:bodyPr wrap="square" lIns="0" tIns="0" rIns="0" bIns="0" rtlCol="0" anchor="ctr"/>
          <a:lstStyle/>
          <a:p>
            <a:pPr indent="0" marL="0">
              <a:buNone/>
            </a:pPr>
            <a:r>
              <a:rPr lang="en-US" sz="1900" b="1" dirty="0">
                <a:solidFill>
                  <a:schemeClr val="tx2"/>
                </a:solidFill>
              </a:rPr>
              <a:t>SQLite database</a:t>
            </a:r>
            <a:endParaRPr lang="en-US" sz="1900" dirty="0"/>
          </a:p>
        </p:txBody>
      </p:sp>
      <p:sp>
        <p:nvSpPr>
          <p:cNvPr id="9" name="Shape 5"/>
          <p:cNvSpPr/>
          <p:nvPr/>
        </p:nvSpPr>
        <p:spPr>
          <a:xfrm>
            <a:off x="8127797" y="1325880"/>
            <a:ext cx="502920" cy="502920"/>
          </a:xfrm>
          <a:prstGeom prst="ellipse">
            <a:avLst/>
          </a:prstGeom>
          <a:solidFill>
            <a:schemeClr val="accent1"/>
          </a:solidFill>
          <a:ln/>
        </p:spPr>
      </p:sp>
      <p:pic>
        <p:nvPicPr>
          <p:cNvPr id="10" name="Image 2" descr="preencoded.png">    </p:cNvPr>
          <p:cNvPicPr>
            <a:picLocks noChangeAspect="1"/>
          </p:cNvPicPr>
          <p:nvPr/>
        </p:nvPicPr>
        <p:blipFill>
          <a:blip r:embed="rId3"/>
          <a:stretch>
            <a:fillRect/>
          </a:stretch>
        </p:blipFill>
        <p:spPr>
          <a:xfrm>
            <a:off x="8253527" y="1451610"/>
            <a:ext cx="251460" cy="251460"/>
          </a:xfrm>
          <a:prstGeom prst="rect">
            <a:avLst/>
          </a:prstGeom>
        </p:spPr>
      </p:pic>
      <p:sp>
        <p:nvSpPr>
          <p:cNvPr id="11" name="Text 6"/>
          <p:cNvSpPr txBox="1"/>
          <p:nvPr/>
        </p:nvSpPr>
        <p:spPr>
          <a:xfrm>
            <a:off x="8767877" y="1325880"/>
            <a:ext cx="2875178" cy="502920"/>
          </a:xfrm>
          <a:prstGeom prst="rect">
            <a:avLst/>
          </a:prstGeom>
          <a:noFill/>
          <a:ln/>
        </p:spPr>
        <p:txBody>
          <a:bodyPr wrap="square" lIns="0" tIns="0" rIns="0" bIns="0" rtlCol="0" anchor="ctr"/>
          <a:lstStyle/>
          <a:p>
            <a:pPr indent="0" marL="0">
              <a:buNone/>
            </a:pPr>
            <a:r>
              <a:rPr lang="en-US" sz="1900" b="1" dirty="0">
                <a:solidFill>
                  <a:schemeClr val="tx2"/>
                </a:solidFill>
              </a:rPr>
              <a:t>Mentor verification</a:t>
            </a:r>
            <a:endParaRPr lang="en-US" sz="1900" dirty="0"/>
          </a:p>
        </p:txBody>
      </p:sp>
      <p:sp>
        <p:nvSpPr>
          <p:cNvPr id="12" name="Shape 7"/>
          <p:cNvSpPr/>
          <p:nvPr/>
        </p:nvSpPr>
        <p:spPr>
          <a:xfrm>
            <a:off x="548640" y="2057400"/>
            <a:ext cx="3515258" cy="640080"/>
          </a:xfrm>
          <a:prstGeom prst="roundRect">
            <a:avLst>
              <a:gd name="adj" fmla="val 11429"/>
            </a:avLst>
          </a:prstGeom>
          <a:solidFill>
            <a:schemeClr val="bg2"/>
          </a:solidFill>
          <a:ln/>
        </p:spPr>
      </p:sp>
      <p:sp>
        <p:nvSpPr>
          <p:cNvPr id="13" name="Text 8"/>
          <p:cNvSpPr txBox="1"/>
          <p:nvPr/>
        </p:nvSpPr>
        <p:spPr>
          <a:xfrm>
            <a:off x="731520" y="2057400"/>
            <a:ext cx="3149498" cy="640080"/>
          </a:xfrm>
          <a:prstGeom prst="rect">
            <a:avLst/>
          </a:prstGeom>
          <a:noFill/>
          <a:ln/>
        </p:spPr>
        <p:txBody>
          <a:bodyPr wrap="square" lIns="0" tIns="0" rIns="0" bIns="0" rtlCol="0" anchor="ctr"/>
          <a:lstStyle/>
          <a:p>
            <a:pPr indent="0" marL="0">
              <a:buNone/>
            </a:pPr>
            <a:r>
              <a:rPr lang="en-US" sz="1500" b="1" dirty="0">
                <a:solidFill>
                  <a:schemeClr val="tx2"/>
                </a:solidFill>
              </a:rPr>
              <a:t>Browser</a:t>
            </a:r>
            <a:endParaRPr lang="en-US" sz="1500" dirty="0"/>
          </a:p>
          <a:p>
            <a:pPr indent="0" marL="0">
              <a:buNone/>
            </a:pPr>
            <a:r>
              <a:rPr lang="en-US" sz="1200" dirty="0">
                <a:solidFill>
                  <a:schemeClr val="tx2"/>
                </a:solidFill>
              </a:rPr>
              <a:t>student · staff · mentor</a:t>
            </a:r>
            <a:endParaRPr lang="en-US" sz="1500" dirty="0"/>
          </a:p>
        </p:txBody>
      </p:sp>
      <p:sp>
        <p:nvSpPr>
          <p:cNvPr id="14" name="Shape 9"/>
          <p:cNvSpPr/>
          <p:nvPr/>
        </p:nvSpPr>
        <p:spPr>
          <a:xfrm>
            <a:off x="2214829" y="2715768"/>
            <a:ext cx="182880" cy="146304"/>
          </a:xfrm>
          <a:prstGeom prst="downArrow">
            <a:avLst/>
          </a:prstGeom>
          <a:solidFill>
            <a:schemeClr val="accent5"/>
          </a:solidFill>
          <a:ln/>
        </p:spPr>
      </p:sp>
      <p:sp>
        <p:nvSpPr>
          <p:cNvPr id="15" name="Shape 10"/>
          <p:cNvSpPr/>
          <p:nvPr/>
        </p:nvSpPr>
        <p:spPr>
          <a:xfrm>
            <a:off x="548640" y="2880360"/>
            <a:ext cx="3515258" cy="640080"/>
          </a:xfrm>
          <a:prstGeom prst="roundRect">
            <a:avLst>
              <a:gd name="adj" fmla="val 11429"/>
            </a:avLst>
          </a:prstGeom>
          <a:solidFill>
            <a:schemeClr val="accent1"/>
          </a:solidFill>
          <a:ln/>
        </p:spPr>
      </p:sp>
      <p:sp>
        <p:nvSpPr>
          <p:cNvPr id="16" name="Text 11"/>
          <p:cNvSpPr txBox="1"/>
          <p:nvPr/>
        </p:nvSpPr>
        <p:spPr>
          <a:xfrm>
            <a:off x="731520" y="2880360"/>
            <a:ext cx="3149498" cy="640080"/>
          </a:xfrm>
          <a:prstGeom prst="rect">
            <a:avLst/>
          </a:prstGeom>
          <a:noFill/>
          <a:ln/>
        </p:spPr>
        <p:txBody>
          <a:bodyPr wrap="square" lIns="0" tIns="0" rIns="0" bIns="0" rtlCol="0" anchor="ctr"/>
          <a:lstStyle/>
          <a:p>
            <a:pPr indent="0" marL="0">
              <a:buNone/>
            </a:pPr>
            <a:r>
              <a:rPr lang="en-US" sz="1500" b="1" dirty="0">
                <a:solidFill>
                  <a:schemeClr val="bg1"/>
                </a:solidFill>
              </a:rPr>
              <a:t>Pages</a:t>
            </a:r>
            <a:endParaRPr lang="en-US" sz="1500" dirty="0"/>
          </a:p>
          <a:p>
            <a:pPr indent="0" marL="0">
              <a:buNone/>
            </a:pPr>
            <a:r>
              <a:rPr lang="en-US" sz="1200" dirty="0">
                <a:solidFill>
                  <a:schemeClr val="bg1"/>
                </a:solidFill>
              </a:rPr>
              <a:t>React screens per role</a:t>
            </a:r>
            <a:endParaRPr lang="en-US" sz="1500" dirty="0"/>
          </a:p>
        </p:txBody>
      </p:sp>
      <p:sp>
        <p:nvSpPr>
          <p:cNvPr id="17" name="Shape 12"/>
          <p:cNvSpPr/>
          <p:nvPr/>
        </p:nvSpPr>
        <p:spPr>
          <a:xfrm>
            <a:off x="2214829" y="3538728"/>
            <a:ext cx="182880" cy="146304"/>
          </a:xfrm>
          <a:prstGeom prst="downArrow">
            <a:avLst/>
          </a:prstGeom>
          <a:solidFill>
            <a:schemeClr val="accent5"/>
          </a:solidFill>
          <a:ln/>
        </p:spPr>
      </p:sp>
      <p:sp>
        <p:nvSpPr>
          <p:cNvPr id="18" name="Shape 13"/>
          <p:cNvSpPr/>
          <p:nvPr/>
        </p:nvSpPr>
        <p:spPr>
          <a:xfrm>
            <a:off x="548640" y="3703320"/>
            <a:ext cx="3515258" cy="640080"/>
          </a:xfrm>
          <a:prstGeom prst="roundRect">
            <a:avLst>
              <a:gd name="adj" fmla="val 11429"/>
            </a:avLst>
          </a:prstGeom>
          <a:solidFill>
            <a:schemeClr val="accent1"/>
          </a:solidFill>
          <a:ln/>
        </p:spPr>
      </p:sp>
      <p:sp>
        <p:nvSpPr>
          <p:cNvPr id="19" name="Text 14"/>
          <p:cNvSpPr txBox="1"/>
          <p:nvPr/>
        </p:nvSpPr>
        <p:spPr>
          <a:xfrm>
            <a:off x="731520" y="3703320"/>
            <a:ext cx="3149498" cy="640080"/>
          </a:xfrm>
          <a:prstGeom prst="rect">
            <a:avLst/>
          </a:prstGeom>
          <a:noFill/>
          <a:ln/>
        </p:spPr>
        <p:txBody>
          <a:bodyPr wrap="square" lIns="0" tIns="0" rIns="0" bIns="0" rtlCol="0" anchor="ctr"/>
          <a:lstStyle/>
          <a:p>
            <a:pPr indent="0" marL="0">
              <a:buNone/>
            </a:pPr>
            <a:r>
              <a:rPr lang="en-US" sz="1500" b="1" dirty="0">
                <a:solidFill>
                  <a:schemeClr val="bg1"/>
                </a:solidFill>
              </a:rPr>
              <a:t>Server actions</a:t>
            </a:r>
            <a:endParaRPr lang="en-US" sz="1500" dirty="0"/>
          </a:p>
          <a:p>
            <a:pPr indent="0" marL="0">
              <a:buNone/>
            </a:pPr>
            <a:r>
              <a:rPr lang="en-US" sz="1200" dirty="0">
                <a:solidFill>
                  <a:schemeClr val="bg1"/>
                </a:solidFill>
              </a:rPr>
              <a:t>forms + role checks on the server</a:t>
            </a:r>
            <a:endParaRPr lang="en-US" sz="1500" dirty="0"/>
          </a:p>
        </p:txBody>
      </p:sp>
      <p:sp>
        <p:nvSpPr>
          <p:cNvPr id="20" name="Shape 15"/>
          <p:cNvSpPr/>
          <p:nvPr/>
        </p:nvSpPr>
        <p:spPr>
          <a:xfrm>
            <a:off x="2214829" y="4361688"/>
            <a:ext cx="182880" cy="146304"/>
          </a:xfrm>
          <a:prstGeom prst="downArrow">
            <a:avLst/>
          </a:prstGeom>
          <a:solidFill>
            <a:schemeClr val="accent5"/>
          </a:solidFill>
          <a:ln/>
        </p:spPr>
      </p:sp>
      <p:sp>
        <p:nvSpPr>
          <p:cNvPr id="21" name="Shape 16"/>
          <p:cNvSpPr/>
          <p:nvPr/>
        </p:nvSpPr>
        <p:spPr>
          <a:xfrm>
            <a:off x="548640" y="4526280"/>
            <a:ext cx="3515258" cy="640080"/>
          </a:xfrm>
          <a:prstGeom prst="roundRect">
            <a:avLst>
              <a:gd name="adj" fmla="val 11429"/>
            </a:avLst>
          </a:prstGeom>
          <a:solidFill>
            <a:schemeClr val="accent1"/>
          </a:solidFill>
          <a:ln/>
        </p:spPr>
      </p:sp>
      <p:sp>
        <p:nvSpPr>
          <p:cNvPr id="22" name="Text 17"/>
          <p:cNvSpPr txBox="1"/>
          <p:nvPr/>
        </p:nvSpPr>
        <p:spPr>
          <a:xfrm>
            <a:off x="731520" y="4526280"/>
            <a:ext cx="3149498" cy="640080"/>
          </a:xfrm>
          <a:prstGeom prst="rect">
            <a:avLst/>
          </a:prstGeom>
          <a:noFill/>
          <a:ln/>
        </p:spPr>
        <p:txBody>
          <a:bodyPr wrap="square" lIns="0" tIns="0" rIns="0" bIns="0" rtlCol="0" anchor="ctr"/>
          <a:lstStyle/>
          <a:p>
            <a:pPr indent="0" marL="0">
              <a:buNone/>
            </a:pPr>
            <a:r>
              <a:rPr lang="en-US" sz="1500" b="1" dirty="0">
                <a:solidFill>
                  <a:schemeClr val="bg1"/>
                </a:solidFill>
              </a:rPr>
              <a:t>Repository</a:t>
            </a:r>
            <a:endParaRPr lang="en-US" sz="1500" dirty="0"/>
          </a:p>
          <a:p>
            <a:pPr indent="0" marL="0">
              <a:buNone/>
            </a:pPr>
            <a:r>
              <a:rPr lang="en-US" sz="1200" dirty="0">
                <a:solidFill>
                  <a:schemeClr val="bg1"/>
                </a:solidFill>
              </a:rPr>
              <a:t>the only layer that uses the database</a:t>
            </a:r>
            <a:endParaRPr lang="en-US" sz="1500" dirty="0"/>
          </a:p>
        </p:txBody>
      </p:sp>
      <p:sp>
        <p:nvSpPr>
          <p:cNvPr id="23" name="Shape 18"/>
          <p:cNvSpPr/>
          <p:nvPr/>
        </p:nvSpPr>
        <p:spPr>
          <a:xfrm>
            <a:off x="2214829" y="5184648"/>
            <a:ext cx="182880" cy="146304"/>
          </a:xfrm>
          <a:prstGeom prst="downArrow">
            <a:avLst/>
          </a:prstGeom>
          <a:solidFill>
            <a:schemeClr val="accent5"/>
          </a:solidFill>
          <a:ln/>
        </p:spPr>
      </p:sp>
      <p:sp>
        <p:nvSpPr>
          <p:cNvPr id="24" name="Shape 19"/>
          <p:cNvSpPr/>
          <p:nvPr/>
        </p:nvSpPr>
        <p:spPr>
          <a:xfrm>
            <a:off x="548640" y="5349240"/>
            <a:ext cx="3515258" cy="640080"/>
          </a:xfrm>
          <a:prstGeom prst="roundRect">
            <a:avLst>
              <a:gd name="adj" fmla="val 11429"/>
            </a:avLst>
          </a:prstGeom>
          <a:solidFill>
            <a:schemeClr val="tx2"/>
          </a:solidFill>
          <a:ln/>
        </p:spPr>
      </p:sp>
      <p:sp>
        <p:nvSpPr>
          <p:cNvPr id="25" name="Text 20"/>
          <p:cNvSpPr txBox="1"/>
          <p:nvPr/>
        </p:nvSpPr>
        <p:spPr>
          <a:xfrm>
            <a:off x="731520" y="5349240"/>
            <a:ext cx="3149498" cy="640080"/>
          </a:xfrm>
          <a:prstGeom prst="rect">
            <a:avLst/>
          </a:prstGeom>
          <a:noFill/>
          <a:ln/>
        </p:spPr>
        <p:txBody>
          <a:bodyPr wrap="square" lIns="0" tIns="0" rIns="0" bIns="0" rtlCol="0" anchor="ctr"/>
          <a:lstStyle/>
          <a:p>
            <a:pPr indent="0" marL="0">
              <a:buNone/>
            </a:pPr>
            <a:r>
              <a:rPr lang="en-US" sz="1500" b="1" dirty="0">
                <a:solidFill>
                  <a:schemeClr val="bg1"/>
                </a:solidFill>
              </a:rPr>
              <a:t>SQLite + uploads folder</a:t>
            </a:r>
            <a:endParaRPr lang="en-US" sz="1500" dirty="0"/>
          </a:p>
          <a:p>
            <a:pPr indent="0" marL="0">
              <a:buNone/>
            </a:pPr>
            <a:r>
              <a:rPr lang="en-US" sz="1200" dirty="0">
                <a:solidFill>
                  <a:schemeClr val="bg1"/>
                </a:solidFill>
              </a:rPr>
              <a:t>data and evidence files on disk</a:t>
            </a:r>
            <a:endParaRPr lang="en-US" sz="1500" dirty="0"/>
          </a:p>
        </p:txBody>
      </p:sp>
      <p:sp>
        <p:nvSpPr>
          <p:cNvPr id="26" name="Shape 21"/>
          <p:cNvSpPr/>
          <p:nvPr/>
        </p:nvSpPr>
        <p:spPr>
          <a:xfrm>
            <a:off x="4886858" y="2057400"/>
            <a:ext cx="2417978" cy="457200"/>
          </a:xfrm>
          <a:prstGeom prst="roundRect">
            <a:avLst>
              <a:gd name="adj" fmla="val 12000"/>
            </a:avLst>
          </a:prstGeom>
          <a:solidFill>
            <a:schemeClr val="bg1"/>
          </a:solidFill>
          <a:ln w="15875">
            <a:solidFill>
              <a:schemeClr val="accent1"/>
            </a:solidFill>
            <a:prstDash val="solid"/>
          </a:ln>
        </p:spPr>
      </p:sp>
      <p:sp>
        <p:nvSpPr>
          <p:cNvPr id="27" name="Text 22"/>
          <p:cNvSpPr txBox="1"/>
          <p:nvPr/>
        </p:nvSpPr>
        <p:spPr>
          <a:xfrm>
            <a:off x="4886858" y="2057400"/>
            <a:ext cx="2417978" cy="457200"/>
          </a:xfrm>
          <a:prstGeom prst="rect">
            <a:avLst/>
          </a:prstGeom>
          <a:noFill/>
          <a:ln/>
        </p:spPr>
        <p:txBody>
          <a:bodyPr wrap="square" lIns="0" tIns="0" rIns="0" bIns="0" rtlCol="0" anchor="ctr"/>
          <a:lstStyle/>
          <a:p>
            <a:pPr algn="ctr" indent="0" marL="0">
              <a:buNone/>
            </a:pPr>
            <a:r>
              <a:rPr lang="en-US" sz="1300" b="1" dirty="0">
                <a:solidFill>
                  <a:schemeClr val="tx2"/>
                </a:solidFill>
              </a:rPr>
              <a:t>users</a:t>
            </a:r>
            <a:endParaRPr lang="en-US" sz="1300" dirty="0"/>
          </a:p>
        </p:txBody>
      </p:sp>
      <p:sp>
        <p:nvSpPr>
          <p:cNvPr id="28" name="Shape 23"/>
          <p:cNvSpPr/>
          <p:nvPr/>
        </p:nvSpPr>
        <p:spPr>
          <a:xfrm>
            <a:off x="4886858" y="2788920"/>
            <a:ext cx="2417978" cy="457200"/>
          </a:xfrm>
          <a:prstGeom prst="roundRect">
            <a:avLst>
              <a:gd name="adj" fmla="val 12000"/>
            </a:avLst>
          </a:prstGeom>
          <a:solidFill>
            <a:schemeClr val="bg1"/>
          </a:solidFill>
          <a:ln w="15875">
            <a:solidFill>
              <a:schemeClr val="accent1"/>
            </a:solidFill>
            <a:prstDash val="solid"/>
          </a:ln>
        </p:spPr>
      </p:sp>
      <p:sp>
        <p:nvSpPr>
          <p:cNvPr id="29" name="Text 24"/>
          <p:cNvSpPr txBox="1"/>
          <p:nvPr/>
        </p:nvSpPr>
        <p:spPr>
          <a:xfrm>
            <a:off x="4886858" y="2788920"/>
            <a:ext cx="2417978" cy="457200"/>
          </a:xfrm>
          <a:prstGeom prst="rect">
            <a:avLst/>
          </a:prstGeom>
          <a:noFill/>
          <a:ln/>
        </p:spPr>
        <p:txBody>
          <a:bodyPr wrap="square" lIns="0" tIns="0" rIns="0" bIns="0" rtlCol="0" anchor="ctr"/>
          <a:lstStyle/>
          <a:p>
            <a:pPr algn="ctr" indent="0" marL="0">
              <a:buNone/>
            </a:pPr>
            <a:r>
              <a:rPr lang="en-US" sz="1300" b="1" dirty="0">
                <a:solidFill>
                  <a:schemeClr val="tx2"/>
                </a:solidFill>
              </a:rPr>
              <a:t>wil_placements</a:t>
            </a:r>
            <a:endParaRPr lang="en-US" sz="1300" dirty="0"/>
          </a:p>
        </p:txBody>
      </p:sp>
      <p:sp>
        <p:nvSpPr>
          <p:cNvPr id="30" name="Shape 25"/>
          <p:cNvSpPr/>
          <p:nvPr/>
        </p:nvSpPr>
        <p:spPr>
          <a:xfrm>
            <a:off x="4338218" y="3611880"/>
            <a:ext cx="1684477" cy="457200"/>
          </a:xfrm>
          <a:prstGeom prst="roundRect">
            <a:avLst>
              <a:gd name="adj" fmla="val 12000"/>
            </a:avLst>
          </a:prstGeom>
          <a:solidFill>
            <a:schemeClr val="bg1"/>
          </a:solidFill>
          <a:ln w="15875">
            <a:solidFill>
              <a:schemeClr val="accent1"/>
            </a:solidFill>
            <a:prstDash val="solid"/>
          </a:ln>
        </p:spPr>
      </p:sp>
      <p:sp>
        <p:nvSpPr>
          <p:cNvPr id="31" name="Text 26"/>
          <p:cNvSpPr txBox="1"/>
          <p:nvPr/>
        </p:nvSpPr>
        <p:spPr>
          <a:xfrm>
            <a:off x="4338218" y="3611880"/>
            <a:ext cx="1684477" cy="457200"/>
          </a:xfrm>
          <a:prstGeom prst="rect">
            <a:avLst/>
          </a:prstGeom>
          <a:noFill/>
          <a:ln/>
        </p:spPr>
        <p:txBody>
          <a:bodyPr wrap="square" lIns="0" tIns="0" rIns="0" bIns="0" rtlCol="0" anchor="ctr"/>
          <a:lstStyle/>
          <a:p>
            <a:pPr algn="ctr" indent="0" marL="0">
              <a:buNone/>
            </a:pPr>
            <a:r>
              <a:rPr lang="en-US" sz="1300" b="1" dirty="0">
                <a:solidFill>
                  <a:schemeClr val="tx2"/>
                </a:solidFill>
              </a:rPr>
              <a:t>logbook_entries</a:t>
            </a:r>
            <a:endParaRPr lang="en-US" sz="1300" dirty="0"/>
          </a:p>
        </p:txBody>
      </p:sp>
      <p:sp>
        <p:nvSpPr>
          <p:cNvPr id="32" name="Shape 27"/>
          <p:cNvSpPr/>
          <p:nvPr/>
        </p:nvSpPr>
        <p:spPr>
          <a:xfrm>
            <a:off x="6169000" y="3611880"/>
            <a:ext cx="1684477" cy="457200"/>
          </a:xfrm>
          <a:prstGeom prst="roundRect">
            <a:avLst>
              <a:gd name="adj" fmla="val 12000"/>
            </a:avLst>
          </a:prstGeom>
          <a:solidFill>
            <a:schemeClr val="bg1"/>
          </a:solidFill>
          <a:ln w="15875">
            <a:solidFill>
              <a:schemeClr val="accent1"/>
            </a:solidFill>
            <a:prstDash val="solid"/>
          </a:ln>
        </p:spPr>
      </p:sp>
      <p:sp>
        <p:nvSpPr>
          <p:cNvPr id="33" name="Text 28"/>
          <p:cNvSpPr txBox="1"/>
          <p:nvPr/>
        </p:nvSpPr>
        <p:spPr>
          <a:xfrm>
            <a:off x="6169000" y="3611880"/>
            <a:ext cx="1684477" cy="457200"/>
          </a:xfrm>
          <a:prstGeom prst="rect">
            <a:avLst/>
          </a:prstGeom>
          <a:noFill/>
          <a:ln/>
        </p:spPr>
        <p:txBody>
          <a:bodyPr wrap="square" lIns="0" tIns="0" rIns="0" bIns="0" rtlCol="0" anchor="ctr"/>
          <a:lstStyle/>
          <a:p>
            <a:pPr algn="ctr" indent="0" marL="0">
              <a:buNone/>
            </a:pPr>
            <a:r>
              <a:rPr lang="en-US" sz="1300" b="1" dirty="0">
                <a:solidFill>
                  <a:schemeClr val="tx2"/>
                </a:solidFill>
              </a:rPr>
              <a:t>placement_documents</a:t>
            </a:r>
            <a:endParaRPr lang="en-US" sz="1300" dirty="0"/>
          </a:p>
        </p:txBody>
      </p:sp>
      <p:sp>
        <p:nvSpPr>
          <p:cNvPr id="34" name="Shape 29"/>
          <p:cNvSpPr/>
          <p:nvPr/>
        </p:nvSpPr>
        <p:spPr>
          <a:xfrm>
            <a:off x="4338218" y="4434840"/>
            <a:ext cx="1684477" cy="457200"/>
          </a:xfrm>
          <a:prstGeom prst="roundRect">
            <a:avLst>
              <a:gd name="adj" fmla="val 12000"/>
            </a:avLst>
          </a:prstGeom>
          <a:solidFill>
            <a:schemeClr val="bg1"/>
          </a:solidFill>
          <a:ln w="15875">
            <a:solidFill>
              <a:schemeClr val="accent1"/>
            </a:solidFill>
            <a:prstDash val="solid"/>
          </a:ln>
        </p:spPr>
      </p:sp>
      <p:sp>
        <p:nvSpPr>
          <p:cNvPr id="35" name="Text 30"/>
          <p:cNvSpPr txBox="1"/>
          <p:nvPr/>
        </p:nvSpPr>
        <p:spPr>
          <a:xfrm>
            <a:off x="4338218" y="4434840"/>
            <a:ext cx="1684477" cy="457200"/>
          </a:xfrm>
          <a:prstGeom prst="rect">
            <a:avLst/>
          </a:prstGeom>
          <a:noFill/>
          <a:ln/>
        </p:spPr>
        <p:txBody>
          <a:bodyPr wrap="square" lIns="0" tIns="0" rIns="0" bIns="0" rtlCol="0" anchor="ctr"/>
          <a:lstStyle/>
          <a:p>
            <a:pPr algn="ctr" indent="0" marL="0">
              <a:buNone/>
            </a:pPr>
            <a:r>
              <a:rPr lang="en-US" sz="1300" b="1" dirty="0">
                <a:solidFill>
                  <a:schemeClr val="tx2"/>
                </a:solidFill>
              </a:rPr>
              <a:t>verification_tokens</a:t>
            </a:r>
            <a:endParaRPr lang="en-US" sz="1300" dirty="0"/>
          </a:p>
        </p:txBody>
      </p:sp>
      <p:sp>
        <p:nvSpPr>
          <p:cNvPr id="36" name="Shape 31"/>
          <p:cNvSpPr/>
          <p:nvPr/>
        </p:nvSpPr>
        <p:spPr>
          <a:xfrm>
            <a:off x="6095848" y="2514600"/>
            <a:ext cx="914" cy="274320"/>
          </a:xfrm>
          <a:prstGeom prst="line">
            <a:avLst/>
          </a:prstGeom>
          <a:noFill/>
          <a:ln w="15875">
            <a:solidFill>
              <a:schemeClr val="accent5"/>
            </a:solidFill>
            <a:prstDash val="solid"/>
          </a:ln>
        </p:spPr>
      </p:sp>
      <p:sp>
        <p:nvSpPr>
          <p:cNvPr id="37" name="Shape 32"/>
          <p:cNvSpPr/>
          <p:nvPr/>
        </p:nvSpPr>
        <p:spPr>
          <a:xfrm flipH="1">
            <a:off x="5217033" y="3246120"/>
            <a:ext cx="878815" cy="365760"/>
          </a:xfrm>
          <a:prstGeom prst="line">
            <a:avLst/>
          </a:prstGeom>
          <a:noFill/>
          <a:ln w="15875">
            <a:solidFill>
              <a:schemeClr val="accent5"/>
            </a:solidFill>
            <a:prstDash val="solid"/>
          </a:ln>
        </p:spPr>
      </p:sp>
      <p:sp>
        <p:nvSpPr>
          <p:cNvPr id="38" name="Shape 33"/>
          <p:cNvSpPr/>
          <p:nvPr/>
        </p:nvSpPr>
        <p:spPr>
          <a:xfrm>
            <a:off x="6095848" y="3246120"/>
            <a:ext cx="878815" cy="365760"/>
          </a:xfrm>
          <a:prstGeom prst="line">
            <a:avLst/>
          </a:prstGeom>
          <a:noFill/>
          <a:ln w="15875">
            <a:solidFill>
              <a:schemeClr val="accent5"/>
            </a:solidFill>
            <a:prstDash val="solid"/>
          </a:ln>
        </p:spPr>
      </p:sp>
      <p:sp>
        <p:nvSpPr>
          <p:cNvPr id="39" name="Shape 34"/>
          <p:cNvSpPr/>
          <p:nvPr/>
        </p:nvSpPr>
        <p:spPr>
          <a:xfrm>
            <a:off x="5217033" y="4069080"/>
            <a:ext cx="914" cy="365760"/>
          </a:xfrm>
          <a:prstGeom prst="line">
            <a:avLst/>
          </a:prstGeom>
          <a:noFill/>
          <a:ln w="15875">
            <a:solidFill>
              <a:schemeClr val="accent5"/>
            </a:solidFill>
            <a:prstDash val="solid"/>
          </a:ln>
        </p:spPr>
      </p:sp>
      <p:sp>
        <p:nvSpPr>
          <p:cNvPr id="40" name="Text 35"/>
          <p:cNvSpPr txBox="1"/>
          <p:nvPr/>
        </p:nvSpPr>
        <p:spPr>
          <a:xfrm>
            <a:off x="4338218" y="5074920"/>
            <a:ext cx="3515258" cy="914400"/>
          </a:xfrm>
          <a:prstGeom prst="rect">
            <a:avLst/>
          </a:prstGeom>
          <a:noFill/>
          <a:ln/>
        </p:spPr>
        <p:txBody>
          <a:bodyPr wrap="square" lIns="0" tIns="0" rIns="0" bIns="0" rtlCol="0" anchor="t"/>
          <a:lstStyle/>
          <a:p>
            <a:pPr indent="0" marL="0">
              <a:buNone/>
            </a:pPr>
            <a:r>
              <a:rPr lang="en-US" sz="1300" dirty="0">
                <a:solidFill>
                  <a:schemeClr val="accent5"/>
                </a:solidFill>
              </a:rPr>
              <a:t>Each line is one-to-many. Constraints reject an unknown status, more than 24 hours a day and a second copy of a document.</a:t>
            </a:r>
            <a:endParaRPr lang="en-US" sz="1300" dirty="0"/>
          </a:p>
        </p:txBody>
      </p:sp>
      <p:sp>
        <p:nvSpPr>
          <p:cNvPr id="41" name="Shape 36"/>
          <p:cNvSpPr/>
          <p:nvPr/>
        </p:nvSpPr>
        <p:spPr>
          <a:xfrm>
            <a:off x="8127797" y="2103120"/>
            <a:ext cx="411480" cy="411480"/>
          </a:xfrm>
          <a:prstGeom prst="ellipse">
            <a:avLst/>
          </a:prstGeom>
          <a:solidFill>
            <a:schemeClr val="accent1"/>
          </a:solidFill>
          <a:ln/>
        </p:spPr>
      </p:sp>
      <p:sp>
        <p:nvSpPr>
          <p:cNvPr id="42" name="Text 37"/>
          <p:cNvSpPr txBox="1"/>
          <p:nvPr/>
        </p:nvSpPr>
        <p:spPr>
          <a:xfrm>
            <a:off x="8127797" y="21031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43" name="Text 38"/>
          <p:cNvSpPr txBox="1"/>
          <p:nvPr/>
        </p:nvSpPr>
        <p:spPr>
          <a:xfrm>
            <a:off x="8676437" y="2057400"/>
            <a:ext cx="2966618" cy="548640"/>
          </a:xfrm>
          <a:prstGeom prst="rect">
            <a:avLst/>
          </a:prstGeom>
          <a:noFill/>
          <a:ln/>
        </p:spPr>
        <p:txBody>
          <a:bodyPr wrap="square" lIns="0" tIns="0" rIns="0" bIns="0" rtlCol="0" anchor="ctr"/>
          <a:lstStyle/>
          <a:p>
            <a:pPr indent="0" marL="0">
              <a:buNone/>
            </a:pPr>
            <a:r>
              <a:rPr lang="en-US" sz="1400" dirty="0">
                <a:solidFill>
                  <a:schemeClr val="tx1"/>
                </a:solidFill>
              </a:rPr>
              <a:t>Student submits an entry</a:t>
            </a:r>
            <a:endParaRPr lang="en-US" sz="1400" dirty="0"/>
          </a:p>
        </p:txBody>
      </p:sp>
      <p:sp>
        <p:nvSpPr>
          <p:cNvPr id="44" name="Shape 39"/>
          <p:cNvSpPr/>
          <p:nvPr/>
        </p:nvSpPr>
        <p:spPr>
          <a:xfrm>
            <a:off x="8127797" y="2788920"/>
            <a:ext cx="411480" cy="411480"/>
          </a:xfrm>
          <a:prstGeom prst="ellipse">
            <a:avLst/>
          </a:prstGeom>
          <a:solidFill>
            <a:schemeClr val="accent1"/>
          </a:solidFill>
          <a:ln/>
        </p:spPr>
      </p:sp>
      <p:sp>
        <p:nvSpPr>
          <p:cNvPr id="45" name="Text 40"/>
          <p:cNvSpPr txBox="1"/>
          <p:nvPr/>
        </p:nvSpPr>
        <p:spPr>
          <a:xfrm>
            <a:off x="8127797" y="27889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46" name="Text 41"/>
          <p:cNvSpPr txBox="1"/>
          <p:nvPr/>
        </p:nvSpPr>
        <p:spPr>
          <a:xfrm>
            <a:off x="8676437" y="2743200"/>
            <a:ext cx="2966618" cy="548640"/>
          </a:xfrm>
          <a:prstGeom prst="rect">
            <a:avLst/>
          </a:prstGeom>
          <a:noFill/>
          <a:ln/>
        </p:spPr>
        <p:txBody>
          <a:bodyPr wrap="square" lIns="0" tIns="0" rIns="0" bIns="0" rtlCol="0" anchor="ctr"/>
          <a:lstStyle/>
          <a:p>
            <a:pPr indent="0" marL="0">
              <a:buNone/>
            </a:pPr>
            <a:r>
              <a:rPr lang="en-US" sz="1400" dirty="0">
                <a:solidFill>
                  <a:schemeClr val="tx1"/>
                </a:solidFill>
              </a:rPr>
              <a:t>Server creates a random token: 7 days, one use</a:t>
            </a:r>
            <a:endParaRPr lang="en-US" sz="1400" dirty="0"/>
          </a:p>
        </p:txBody>
      </p:sp>
      <p:sp>
        <p:nvSpPr>
          <p:cNvPr id="47" name="Shape 42"/>
          <p:cNvSpPr/>
          <p:nvPr/>
        </p:nvSpPr>
        <p:spPr>
          <a:xfrm>
            <a:off x="8127797" y="3474720"/>
            <a:ext cx="411480" cy="411480"/>
          </a:xfrm>
          <a:prstGeom prst="ellipse">
            <a:avLst/>
          </a:prstGeom>
          <a:solidFill>
            <a:schemeClr val="accent1"/>
          </a:solidFill>
          <a:ln/>
        </p:spPr>
      </p:sp>
      <p:sp>
        <p:nvSpPr>
          <p:cNvPr id="48" name="Text 43"/>
          <p:cNvSpPr txBox="1"/>
          <p:nvPr/>
        </p:nvSpPr>
        <p:spPr>
          <a:xfrm>
            <a:off x="8127797" y="34747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49" name="Text 44"/>
          <p:cNvSpPr txBox="1"/>
          <p:nvPr/>
        </p:nvSpPr>
        <p:spPr>
          <a:xfrm>
            <a:off x="8676437" y="3429000"/>
            <a:ext cx="2966618" cy="548640"/>
          </a:xfrm>
          <a:prstGeom prst="rect">
            <a:avLst/>
          </a:prstGeom>
          <a:noFill/>
          <a:ln/>
        </p:spPr>
        <p:txBody>
          <a:bodyPr wrap="square" lIns="0" tIns="0" rIns="0" bIns="0" rtlCol="0" anchor="ctr"/>
          <a:lstStyle/>
          <a:p>
            <a:pPr indent="0" marL="0">
              <a:buNone/>
            </a:pPr>
            <a:r>
              <a:rPr lang="en-US" sz="1400" dirty="0">
                <a:solidFill>
                  <a:schemeClr val="tx1"/>
                </a:solidFill>
              </a:rPr>
              <a:t>Student sends the link to the mentor</a:t>
            </a:r>
            <a:endParaRPr lang="en-US" sz="1400" dirty="0"/>
          </a:p>
        </p:txBody>
      </p:sp>
      <p:sp>
        <p:nvSpPr>
          <p:cNvPr id="50" name="Shape 45"/>
          <p:cNvSpPr/>
          <p:nvPr/>
        </p:nvSpPr>
        <p:spPr>
          <a:xfrm>
            <a:off x="8127797" y="4160520"/>
            <a:ext cx="411480" cy="411480"/>
          </a:xfrm>
          <a:prstGeom prst="ellipse">
            <a:avLst/>
          </a:prstGeom>
          <a:solidFill>
            <a:schemeClr val="accent1"/>
          </a:solidFill>
          <a:ln/>
        </p:spPr>
      </p:sp>
      <p:sp>
        <p:nvSpPr>
          <p:cNvPr id="51" name="Text 46"/>
          <p:cNvSpPr txBox="1"/>
          <p:nvPr/>
        </p:nvSpPr>
        <p:spPr>
          <a:xfrm>
            <a:off x="8127797" y="41605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52" name="Text 47"/>
          <p:cNvSpPr txBox="1"/>
          <p:nvPr/>
        </p:nvSpPr>
        <p:spPr>
          <a:xfrm>
            <a:off x="8676437" y="4114800"/>
            <a:ext cx="2966618" cy="548640"/>
          </a:xfrm>
          <a:prstGeom prst="rect">
            <a:avLst/>
          </a:prstGeom>
          <a:noFill/>
          <a:ln/>
        </p:spPr>
        <p:txBody>
          <a:bodyPr wrap="square" lIns="0" tIns="0" rIns="0" bIns="0" rtlCol="0" anchor="ctr"/>
          <a:lstStyle/>
          <a:p>
            <a:pPr indent="0" marL="0">
              <a:buNone/>
            </a:pPr>
            <a:r>
              <a:rPr lang="en-US" sz="1400" dirty="0">
                <a:solidFill>
                  <a:schemeClr val="tx1"/>
                </a:solidFill>
              </a:rPr>
              <a:t>Mentor approves or rejects, no account</a:t>
            </a:r>
            <a:endParaRPr lang="en-US" sz="1400" dirty="0"/>
          </a:p>
        </p:txBody>
      </p:sp>
      <p:sp>
        <p:nvSpPr>
          <p:cNvPr id="53" name="Shape 48"/>
          <p:cNvSpPr/>
          <p:nvPr/>
        </p:nvSpPr>
        <p:spPr>
          <a:xfrm>
            <a:off x="8127797" y="4846320"/>
            <a:ext cx="411480" cy="411480"/>
          </a:xfrm>
          <a:prstGeom prst="ellipse">
            <a:avLst/>
          </a:prstGeom>
          <a:solidFill>
            <a:schemeClr val="accent1"/>
          </a:solidFill>
          <a:ln/>
        </p:spPr>
      </p:sp>
      <p:sp>
        <p:nvSpPr>
          <p:cNvPr id="54" name="Text 49"/>
          <p:cNvSpPr txBox="1"/>
          <p:nvPr/>
        </p:nvSpPr>
        <p:spPr>
          <a:xfrm>
            <a:off x="8127797" y="48463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55" name="Text 50"/>
          <p:cNvSpPr txBox="1"/>
          <p:nvPr/>
        </p:nvSpPr>
        <p:spPr>
          <a:xfrm>
            <a:off x="8676437" y="4800600"/>
            <a:ext cx="2966618" cy="548640"/>
          </a:xfrm>
          <a:prstGeom prst="rect">
            <a:avLst/>
          </a:prstGeom>
          <a:noFill/>
          <a:ln/>
        </p:spPr>
        <p:txBody>
          <a:bodyPr wrap="square" lIns="0" tIns="0" rIns="0" bIns="0" rtlCol="0" anchor="ctr"/>
          <a:lstStyle/>
          <a:p>
            <a:pPr indent="0" marL="0">
              <a:buNone/>
            </a:pPr>
            <a:r>
              <a:rPr lang="en-US" sz="1400" dirty="0">
                <a:solidFill>
                  <a:schemeClr val="tx1"/>
                </a:solidFill>
              </a:rPr>
              <a:t>Token use + new status saved in one transaction</a:t>
            </a:r>
            <a:endParaRPr lang="en-US" sz="1400" dirty="0"/>
          </a:p>
        </p:txBody>
      </p:sp>
      <p:sp>
        <p:nvSpPr>
          <p:cNvPr id="56" name="Shape 51"/>
          <p:cNvSpPr/>
          <p:nvPr/>
        </p:nvSpPr>
        <p:spPr>
          <a:xfrm>
            <a:off x="8127797" y="5532120"/>
            <a:ext cx="3515258" cy="502920"/>
          </a:xfrm>
          <a:prstGeom prst="roundRect">
            <a:avLst>
              <a:gd name="adj" fmla="val 14545"/>
            </a:avLst>
          </a:prstGeom>
          <a:solidFill>
            <a:schemeClr val="bg2"/>
          </a:solidFill>
          <a:ln/>
        </p:spPr>
      </p:sp>
      <p:sp>
        <p:nvSpPr>
          <p:cNvPr id="57" name="Text 52"/>
          <p:cNvSpPr txBox="1"/>
          <p:nvPr/>
        </p:nvSpPr>
        <p:spPr>
          <a:xfrm>
            <a:off x="8310677" y="5532120"/>
            <a:ext cx="3149498" cy="502920"/>
          </a:xfrm>
          <a:prstGeom prst="rect">
            <a:avLst/>
          </a:prstGeom>
          <a:noFill/>
          <a:ln/>
        </p:spPr>
        <p:txBody>
          <a:bodyPr wrap="square" lIns="0" tIns="0" rIns="0" bIns="0" rtlCol="0" anchor="ctr"/>
          <a:lstStyle/>
          <a:p>
            <a:pPr indent="0" marL="0">
              <a:buNone/>
            </a:pPr>
            <a:r>
              <a:rPr lang="en-US" sz="1400" b="1" dirty="0">
                <a:solidFill>
                  <a:schemeClr val="tx2"/>
                </a:solidFill>
              </a:rPr>
              <a:t>A used or expired link changes nothing</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bg1"/>
                </a:solidFill>
              </a:rPr>
              <a:t>Live demonstration</a:t>
            </a:r>
            <a:endParaRPr lang="en-US" sz="3400" dirty="0"/>
          </a:p>
        </p:txBody>
      </p:sp>
      <p:sp>
        <p:nvSpPr>
          <p:cNvPr id="3" name="Text 1"/>
          <p:cNvSpPr txBox="1"/>
          <p:nvPr/>
        </p:nvSpPr>
        <p:spPr>
          <a:xfrm>
            <a:off x="548640" y="1097280"/>
            <a:ext cx="10972800" cy="411480"/>
          </a:xfrm>
          <a:prstGeom prst="rect">
            <a:avLst/>
          </a:prstGeom>
          <a:noFill/>
          <a:ln/>
        </p:spPr>
        <p:txBody>
          <a:bodyPr wrap="square" lIns="0" tIns="0" rIns="0" bIns="0" rtlCol="0" anchor="t"/>
          <a:lstStyle/>
          <a:p>
            <a:pPr indent="0" marL="0">
              <a:buNone/>
            </a:pPr>
            <a:r>
              <a:rPr lang="en-US" sz="1800" dirty="0">
                <a:solidFill>
                  <a:schemeClr val="accent6"/>
                </a:solidFill>
              </a:rPr>
              <a:t>One entry, from the student's logbook to the lecturer's dashboard</a:t>
            </a:r>
            <a:endParaRPr lang="en-US" sz="1800" dirty="0"/>
          </a:p>
        </p:txBody>
      </p:sp>
      <p:sp>
        <p:nvSpPr>
          <p:cNvPr id="4" name="Shape 2"/>
          <p:cNvSpPr/>
          <p:nvPr/>
        </p:nvSpPr>
        <p:spPr>
          <a:xfrm>
            <a:off x="1109442" y="1920240"/>
            <a:ext cx="914400" cy="9144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1338042" y="2148840"/>
            <a:ext cx="457200" cy="457200"/>
          </a:xfrm>
          <a:prstGeom prst="rect">
            <a:avLst/>
          </a:prstGeom>
        </p:spPr>
      </p:pic>
      <p:sp>
        <p:nvSpPr>
          <p:cNvPr id="6" name="Shape 3"/>
          <p:cNvSpPr/>
          <p:nvPr/>
        </p:nvSpPr>
        <p:spPr>
          <a:xfrm>
            <a:off x="2133570" y="2286000"/>
            <a:ext cx="1130747" cy="182880"/>
          </a:xfrm>
          <a:prstGeom prst="rightArrow">
            <a:avLst/>
          </a:prstGeom>
          <a:solidFill>
            <a:schemeClr val="accent6"/>
          </a:solidFill>
          <a:ln/>
        </p:spPr>
      </p:sp>
      <p:sp>
        <p:nvSpPr>
          <p:cNvPr id="7" name="Text 4"/>
          <p:cNvSpPr txBox="1"/>
          <p:nvPr/>
        </p:nvSpPr>
        <p:spPr>
          <a:xfrm>
            <a:off x="548640" y="3063240"/>
            <a:ext cx="2036003" cy="411480"/>
          </a:xfrm>
          <a:prstGeom prst="rect">
            <a:avLst/>
          </a:prstGeom>
          <a:noFill/>
          <a:ln/>
        </p:spPr>
        <p:txBody>
          <a:bodyPr wrap="square" lIns="0" tIns="0" rIns="0" bIns="0" rtlCol="0" anchor="t"/>
          <a:lstStyle/>
          <a:p>
            <a:pPr algn="ctr" indent="0" marL="0">
              <a:buNone/>
            </a:pPr>
            <a:r>
              <a:rPr lang="en-US" sz="1800" b="1" dirty="0">
                <a:solidFill>
                  <a:schemeClr val="bg1"/>
                </a:solidFill>
              </a:rPr>
              <a:t>Student logs a day</a:t>
            </a:r>
            <a:endParaRPr lang="en-US" sz="1800" dirty="0"/>
          </a:p>
        </p:txBody>
      </p:sp>
      <p:sp>
        <p:nvSpPr>
          <p:cNvPr id="8" name="Text 5"/>
          <p:cNvSpPr txBox="1"/>
          <p:nvPr/>
        </p:nvSpPr>
        <p:spPr>
          <a:xfrm>
            <a:off x="594360" y="3520440"/>
            <a:ext cx="1944563" cy="868680"/>
          </a:xfrm>
          <a:prstGeom prst="rect">
            <a:avLst/>
          </a:prstGeom>
          <a:noFill/>
          <a:ln/>
        </p:spPr>
        <p:txBody>
          <a:bodyPr wrap="square" lIns="0" tIns="0" rIns="0" bIns="0" rtlCol="0" anchor="t"/>
          <a:lstStyle/>
          <a:p>
            <a:pPr algn="ctr" indent="0" marL="0">
              <a:buNone/>
            </a:pPr>
            <a:r>
              <a:rPr lang="en-US" sz="1400" dirty="0">
                <a:solidFill>
                  <a:schemeClr val="accent6"/>
                </a:solidFill>
              </a:rPr>
              <a:t>Sihle's WIL 1: new entry, 6 hours, PDF evidence</a:t>
            </a:r>
            <a:endParaRPr lang="en-US" sz="1400" dirty="0"/>
          </a:p>
        </p:txBody>
      </p:sp>
      <p:sp>
        <p:nvSpPr>
          <p:cNvPr id="9" name="Shape 6"/>
          <p:cNvSpPr/>
          <p:nvPr/>
        </p:nvSpPr>
        <p:spPr>
          <a:xfrm>
            <a:off x="1063722" y="4480560"/>
            <a:ext cx="1005840" cy="292608"/>
          </a:xfrm>
          <a:prstGeom prst="roundRect">
            <a:avLst>
              <a:gd name="adj" fmla="val 50000"/>
            </a:avLst>
          </a:prstGeom>
          <a:solidFill>
            <a:schemeClr val="bg2"/>
          </a:solidFill>
          <a:ln/>
        </p:spPr>
      </p:sp>
      <p:sp>
        <p:nvSpPr>
          <p:cNvPr id="10" name="Text 7"/>
          <p:cNvSpPr txBox="1"/>
          <p:nvPr/>
        </p:nvSpPr>
        <p:spPr>
          <a:xfrm>
            <a:off x="1063722" y="4480560"/>
            <a:ext cx="1005840" cy="292608"/>
          </a:xfrm>
          <a:prstGeom prst="rect">
            <a:avLst/>
          </a:prstGeom>
          <a:noFill/>
          <a:ln/>
        </p:spPr>
        <p:txBody>
          <a:bodyPr wrap="square" lIns="0" tIns="0" rIns="0" bIns="0" rtlCol="0" anchor="ctr"/>
          <a:lstStyle/>
          <a:p>
            <a:pPr algn="ctr" indent="0" marL="0">
              <a:buNone/>
            </a:pPr>
            <a:r>
              <a:rPr lang="en-US" sz="1200" b="1" dirty="0">
                <a:solidFill>
                  <a:schemeClr val="tx2"/>
                </a:solidFill>
              </a:rPr>
              <a:t>Moe</a:t>
            </a:r>
            <a:endParaRPr lang="en-US" sz="1200" dirty="0"/>
          </a:p>
        </p:txBody>
      </p:sp>
      <p:sp>
        <p:nvSpPr>
          <p:cNvPr id="11" name="Shape 8"/>
          <p:cNvSpPr/>
          <p:nvPr/>
        </p:nvSpPr>
        <p:spPr>
          <a:xfrm>
            <a:off x="3374045" y="1920240"/>
            <a:ext cx="914400" cy="91440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3602645" y="2148840"/>
            <a:ext cx="457200" cy="457200"/>
          </a:xfrm>
          <a:prstGeom prst="rect">
            <a:avLst/>
          </a:prstGeom>
        </p:spPr>
      </p:pic>
      <p:sp>
        <p:nvSpPr>
          <p:cNvPr id="13" name="Shape 9"/>
          <p:cNvSpPr/>
          <p:nvPr/>
        </p:nvSpPr>
        <p:spPr>
          <a:xfrm>
            <a:off x="4398173" y="2286000"/>
            <a:ext cx="1130747" cy="182880"/>
          </a:xfrm>
          <a:prstGeom prst="rightArrow">
            <a:avLst/>
          </a:prstGeom>
          <a:solidFill>
            <a:schemeClr val="accent6"/>
          </a:solidFill>
          <a:ln/>
        </p:spPr>
      </p:sp>
      <p:sp>
        <p:nvSpPr>
          <p:cNvPr id="14" name="Text 10"/>
          <p:cNvSpPr txBox="1"/>
          <p:nvPr/>
        </p:nvSpPr>
        <p:spPr>
          <a:xfrm>
            <a:off x="2813243" y="3063240"/>
            <a:ext cx="2036003" cy="411480"/>
          </a:xfrm>
          <a:prstGeom prst="rect">
            <a:avLst/>
          </a:prstGeom>
          <a:noFill/>
          <a:ln/>
        </p:spPr>
        <p:txBody>
          <a:bodyPr wrap="square" lIns="0" tIns="0" rIns="0" bIns="0" rtlCol="0" anchor="t"/>
          <a:lstStyle/>
          <a:p>
            <a:pPr algn="ctr" indent="0" marL="0">
              <a:buNone/>
            </a:pPr>
            <a:r>
              <a:rPr lang="en-US" sz="1800" b="1" dirty="0">
                <a:solidFill>
                  <a:schemeClr val="bg1"/>
                </a:solidFill>
              </a:rPr>
              <a:t>Submits for checking</a:t>
            </a:r>
            <a:endParaRPr lang="en-US" sz="1800" dirty="0"/>
          </a:p>
        </p:txBody>
      </p:sp>
      <p:sp>
        <p:nvSpPr>
          <p:cNvPr id="15" name="Text 11"/>
          <p:cNvSpPr txBox="1"/>
          <p:nvPr/>
        </p:nvSpPr>
        <p:spPr>
          <a:xfrm>
            <a:off x="2858963" y="3520440"/>
            <a:ext cx="1944563" cy="868680"/>
          </a:xfrm>
          <a:prstGeom prst="rect">
            <a:avLst/>
          </a:prstGeom>
          <a:noFill/>
          <a:ln/>
        </p:spPr>
        <p:txBody>
          <a:bodyPr wrap="square" lIns="0" tIns="0" rIns="0" bIns="0" rtlCol="0" anchor="t"/>
          <a:lstStyle/>
          <a:p>
            <a:pPr algn="ctr" indent="0" marL="0">
              <a:buNone/>
            </a:pPr>
            <a:r>
              <a:rPr lang="en-US" sz="1400" dirty="0">
                <a:solidFill>
                  <a:schemeClr val="accent6"/>
                </a:solidFill>
              </a:rPr>
              <a:t>Status: Pending verification, 7-day link</a:t>
            </a:r>
            <a:endParaRPr lang="en-US" sz="1400" dirty="0"/>
          </a:p>
        </p:txBody>
      </p:sp>
      <p:sp>
        <p:nvSpPr>
          <p:cNvPr id="16" name="Shape 12"/>
          <p:cNvSpPr/>
          <p:nvPr/>
        </p:nvSpPr>
        <p:spPr>
          <a:xfrm>
            <a:off x="3328325" y="4480560"/>
            <a:ext cx="1005840" cy="292608"/>
          </a:xfrm>
          <a:prstGeom prst="roundRect">
            <a:avLst>
              <a:gd name="adj" fmla="val 50000"/>
            </a:avLst>
          </a:prstGeom>
          <a:solidFill>
            <a:schemeClr val="bg2"/>
          </a:solidFill>
          <a:ln/>
        </p:spPr>
      </p:sp>
      <p:sp>
        <p:nvSpPr>
          <p:cNvPr id="17" name="Text 13"/>
          <p:cNvSpPr txBox="1"/>
          <p:nvPr/>
        </p:nvSpPr>
        <p:spPr>
          <a:xfrm>
            <a:off x="3328325" y="4480560"/>
            <a:ext cx="1005840" cy="292608"/>
          </a:xfrm>
          <a:prstGeom prst="rect">
            <a:avLst/>
          </a:prstGeom>
          <a:noFill/>
          <a:ln/>
        </p:spPr>
        <p:txBody>
          <a:bodyPr wrap="square" lIns="0" tIns="0" rIns="0" bIns="0" rtlCol="0" anchor="ctr"/>
          <a:lstStyle/>
          <a:p>
            <a:pPr algn="ctr" indent="0" marL="0">
              <a:buNone/>
            </a:pPr>
            <a:r>
              <a:rPr lang="en-US" sz="1200" b="1" dirty="0">
                <a:solidFill>
                  <a:schemeClr val="tx2"/>
                </a:solidFill>
              </a:rPr>
              <a:t>Moe</a:t>
            </a:r>
            <a:endParaRPr lang="en-US" sz="1200" dirty="0"/>
          </a:p>
        </p:txBody>
      </p:sp>
      <p:sp>
        <p:nvSpPr>
          <p:cNvPr id="18" name="Shape 14"/>
          <p:cNvSpPr/>
          <p:nvPr/>
        </p:nvSpPr>
        <p:spPr>
          <a:xfrm>
            <a:off x="5638648" y="1920240"/>
            <a:ext cx="914400" cy="914400"/>
          </a:xfrm>
          <a:prstGeom prst="ellipse">
            <a:avLst/>
          </a:prstGeom>
          <a:solidFill>
            <a:schemeClr val="accent1"/>
          </a:solidFill>
          <a:ln/>
        </p:spPr>
      </p:sp>
      <p:pic>
        <p:nvPicPr>
          <p:cNvPr id="19" name="Image 2" descr="preencoded.png">    </p:cNvPr>
          <p:cNvPicPr>
            <a:picLocks noChangeAspect="1"/>
          </p:cNvPicPr>
          <p:nvPr/>
        </p:nvPicPr>
        <p:blipFill>
          <a:blip r:embed="rId3"/>
          <a:stretch>
            <a:fillRect/>
          </a:stretch>
        </p:blipFill>
        <p:spPr>
          <a:xfrm>
            <a:off x="5867248" y="2148840"/>
            <a:ext cx="457200" cy="457200"/>
          </a:xfrm>
          <a:prstGeom prst="rect">
            <a:avLst/>
          </a:prstGeom>
        </p:spPr>
      </p:pic>
      <p:sp>
        <p:nvSpPr>
          <p:cNvPr id="20" name="Shape 15"/>
          <p:cNvSpPr/>
          <p:nvPr/>
        </p:nvSpPr>
        <p:spPr>
          <a:xfrm>
            <a:off x="6662776" y="2286000"/>
            <a:ext cx="1130747" cy="182880"/>
          </a:xfrm>
          <a:prstGeom prst="rightArrow">
            <a:avLst/>
          </a:prstGeom>
          <a:solidFill>
            <a:schemeClr val="accent6"/>
          </a:solidFill>
          <a:ln/>
        </p:spPr>
      </p:sp>
      <p:sp>
        <p:nvSpPr>
          <p:cNvPr id="21" name="Text 16"/>
          <p:cNvSpPr txBox="1"/>
          <p:nvPr/>
        </p:nvSpPr>
        <p:spPr>
          <a:xfrm>
            <a:off x="5077846" y="3063240"/>
            <a:ext cx="2036003" cy="411480"/>
          </a:xfrm>
          <a:prstGeom prst="rect">
            <a:avLst/>
          </a:prstGeom>
          <a:noFill/>
          <a:ln/>
        </p:spPr>
        <p:txBody>
          <a:bodyPr wrap="square" lIns="0" tIns="0" rIns="0" bIns="0" rtlCol="0" anchor="t"/>
          <a:lstStyle/>
          <a:p>
            <a:pPr algn="ctr" indent="0" marL="0">
              <a:buNone/>
            </a:pPr>
            <a:r>
              <a:rPr lang="en-US" sz="1800" b="1" dirty="0">
                <a:solidFill>
                  <a:schemeClr val="bg1"/>
                </a:solidFill>
              </a:rPr>
              <a:t>Mentor approves</a:t>
            </a:r>
            <a:endParaRPr lang="en-US" sz="1800" dirty="0"/>
          </a:p>
        </p:txBody>
      </p:sp>
      <p:sp>
        <p:nvSpPr>
          <p:cNvPr id="22" name="Text 17"/>
          <p:cNvSpPr txBox="1"/>
          <p:nvPr/>
        </p:nvSpPr>
        <p:spPr>
          <a:xfrm>
            <a:off x="5123566" y="3520440"/>
            <a:ext cx="1944563" cy="868680"/>
          </a:xfrm>
          <a:prstGeom prst="rect">
            <a:avLst/>
          </a:prstGeom>
          <a:noFill/>
          <a:ln/>
        </p:spPr>
        <p:txBody>
          <a:bodyPr wrap="square" lIns="0" tIns="0" rIns="0" bIns="0" rtlCol="0" anchor="t"/>
          <a:lstStyle/>
          <a:p>
            <a:pPr algn="ctr" indent="0" marL="0">
              <a:buNone/>
            </a:pPr>
            <a:r>
              <a:rPr lang="en-US" sz="1400" dirty="0">
                <a:solidFill>
                  <a:schemeClr val="accent6"/>
                </a:solidFill>
              </a:rPr>
              <a:t>Private window, no sign-in; the link then stops working</a:t>
            </a:r>
            <a:endParaRPr lang="en-US" sz="1400" dirty="0"/>
          </a:p>
        </p:txBody>
      </p:sp>
      <p:sp>
        <p:nvSpPr>
          <p:cNvPr id="23" name="Shape 18"/>
          <p:cNvSpPr/>
          <p:nvPr/>
        </p:nvSpPr>
        <p:spPr>
          <a:xfrm>
            <a:off x="5592928" y="4480560"/>
            <a:ext cx="1005840" cy="292608"/>
          </a:xfrm>
          <a:prstGeom prst="roundRect">
            <a:avLst>
              <a:gd name="adj" fmla="val 50000"/>
            </a:avLst>
          </a:prstGeom>
          <a:solidFill>
            <a:schemeClr val="bg2"/>
          </a:solidFill>
          <a:ln/>
        </p:spPr>
      </p:sp>
      <p:sp>
        <p:nvSpPr>
          <p:cNvPr id="24" name="Text 19"/>
          <p:cNvSpPr txBox="1"/>
          <p:nvPr/>
        </p:nvSpPr>
        <p:spPr>
          <a:xfrm>
            <a:off x="5592928" y="4480560"/>
            <a:ext cx="1005840" cy="292608"/>
          </a:xfrm>
          <a:prstGeom prst="rect">
            <a:avLst/>
          </a:prstGeom>
          <a:noFill/>
          <a:ln/>
        </p:spPr>
        <p:txBody>
          <a:bodyPr wrap="square" lIns="0" tIns="0" rIns="0" bIns="0" rtlCol="0" anchor="ctr"/>
          <a:lstStyle/>
          <a:p>
            <a:pPr algn="ctr" indent="0" marL="0">
              <a:buNone/>
            </a:pPr>
            <a:r>
              <a:rPr lang="en-US" sz="1200" b="1" dirty="0">
                <a:solidFill>
                  <a:schemeClr val="tx2"/>
                </a:solidFill>
              </a:rPr>
              <a:t>Gedion</a:t>
            </a:r>
            <a:endParaRPr lang="en-US" sz="1200" dirty="0"/>
          </a:p>
        </p:txBody>
      </p:sp>
      <p:sp>
        <p:nvSpPr>
          <p:cNvPr id="25" name="Shape 20"/>
          <p:cNvSpPr/>
          <p:nvPr/>
        </p:nvSpPr>
        <p:spPr>
          <a:xfrm>
            <a:off x="7903251" y="1920240"/>
            <a:ext cx="914400" cy="914400"/>
          </a:xfrm>
          <a:prstGeom prst="ellipse">
            <a:avLst/>
          </a:prstGeom>
          <a:solidFill>
            <a:schemeClr val="accent1"/>
          </a:solidFill>
          <a:ln/>
        </p:spPr>
      </p:sp>
      <p:pic>
        <p:nvPicPr>
          <p:cNvPr id="26" name="Image 3" descr="preencoded.png">    </p:cNvPr>
          <p:cNvPicPr>
            <a:picLocks noChangeAspect="1"/>
          </p:cNvPicPr>
          <p:nvPr/>
        </p:nvPicPr>
        <p:blipFill>
          <a:blip r:embed="rId4"/>
          <a:stretch>
            <a:fillRect/>
          </a:stretch>
        </p:blipFill>
        <p:spPr>
          <a:xfrm>
            <a:off x="8131851" y="2148840"/>
            <a:ext cx="457200" cy="457200"/>
          </a:xfrm>
          <a:prstGeom prst="rect">
            <a:avLst/>
          </a:prstGeom>
        </p:spPr>
      </p:pic>
      <p:sp>
        <p:nvSpPr>
          <p:cNvPr id="27" name="Shape 21"/>
          <p:cNvSpPr/>
          <p:nvPr/>
        </p:nvSpPr>
        <p:spPr>
          <a:xfrm>
            <a:off x="8927379" y="2286000"/>
            <a:ext cx="1130747" cy="182880"/>
          </a:xfrm>
          <a:prstGeom prst="rightArrow">
            <a:avLst/>
          </a:prstGeom>
          <a:solidFill>
            <a:schemeClr val="accent6"/>
          </a:solidFill>
          <a:ln/>
        </p:spPr>
      </p:sp>
      <p:sp>
        <p:nvSpPr>
          <p:cNvPr id="28" name="Text 22"/>
          <p:cNvSpPr txBox="1"/>
          <p:nvPr/>
        </p:nvSpPr>
        <p:spPr>
          <a:xfrm>
            <a:off x="7342449" y="3063240"/>
            <a:ext cx="2036003" cy="411480"/>
          </a:xfrm>
          <a:prstGeom prst="rect">
            <a:avLst/>
          </a:prstGeom>
          <a:noFill/>
          <a:ln/>
        </p:spPr>
        <p:txBody>
          <a:bodyPr wrap="square" lIns="0" tIns="0" rIns="0" bIns="0" rtlCol="0" anchor="t"/>
          <a:lstStyle/>
          <a:p>
            <a:pPr algn="ctr" indent="0" marL="0">
              <a:buNone/>
            </a:pPr>
            <a:r>
              <a:rPr lang="en-US" sz="1800" b="1" dirty="0">
                <a:solidFill>
                  <a:schemeClr val="bg1"/>
                </a:solidFill>
              </a:rPr>
              <a:t>Hours go up</a:t>
            </a:r>
            <a:endParaRPr lang="en-US" sz="1800" dirty="0"/>
          </a:p>
        </p:txBody>
      </p:sp>
      <p:sp>
        <p:nvSpPr>
          <p:cNvPr id="29" name="Text 23"/>
          <p:cNvSpPr txBox="1"/>
          <p:nvPr/>
        </p:nvSpPr>
        <p:spPr>
          <a:xfrm>
            <a:off x="7388169" y="3520440"/>
            <a:ext cx="1944563" cy="868680"/>
          </a:xfrm>
          <a:prstGeom prst="rect">
            <a:avLst/>
          </a:prstGeom>
          <a:noFill/>
          <a:ln/>
        </p:spPr>
        <p:txBody>
          <a:bodyPr wrap="square" lIns="0" tIns="0" rIns="0" bIns="0" rtlCol="0" anchor="t"/>
          <a:lstStyle/>
          <a:p>
            <a:pPr algn="ctr" indent="0" marL="0">
              <a:buNone/>
            </a:pPr>
            <a:r>
              <a:rPr lang="en-US" sz="1400" dirty="0">
                <a:solidFill>
                  <a:schemeClr val="accent6"/>
                </a:solidFill>
              </a:rPr>
              <a:t>6 → 12 of 200 verified hours</a:t>
            </a:r>
            <a:endParaRPr lang="en-US" sz="1400" dirty="0"/>
          </a:p>
        </p:txBody>
      </p:sp>
      <p:sp>
        <p:nvSpPr>
          <p:cNvPr id="30" name="Shape 24"/>
          <p:cNvSpPr/>
          <p:nvPr/>
        </p:nvSpPr>
        <p:spPr>
          <a:xfrm>
            <a:off x="7857531" y="4480560"/>
            <a:ext cx="1005840" cy="292608"/>
          </a:xfrm>
          <a:prstGeom prst="roundRect">
            <a:avLst>
              <a:gd name="adj" fmla="val 50000"/>
            </a:avLst>
          </a:prstGeom>
          <a:solidFill>
            <a:schemeClr val="bg2"/>
          </a:solidFill>
          <a:ln/>
        </p:spPr>
      </p:sp>
      <p:sp>
        <p:nvSpPr>
          <p:cNvPr id="31" name="Text 25"/>
          <p:cNvSpPr txBox="1"/>
          <p:nvPr/>
        </p:nvSpPr>
        <p:spPr>
          <a:xfrm>
            <a:off x="7857531" y="4480560"/>
            <a:ext cx="1005840" cy="292608"/>
          </a:xfrm>
          <a:prstGeom prst="rect">
            <a:avLst/>
          </a:prstGeom>
          <a:noFill/>
          <a:ln/>
        </p:spPr>
        <p:txBody>
          <a:bodyPr wrap="square" lIns="0" tIns="0" rIns="0" bIns="0" rtlCol="0" anchor="ctr"/>
          <a:lstStyle/>
          <a:p>
            <a:pPr algn="ctr" indent="0" marL="0">
              <a:buNone/>
            </a:pPr>
            <a:r>
              <a:rPr lang="en-US" sz="1200" b="1" dirty="0">
                <a:solidFill>
                  <a:schemeClr val="tx2"/>
                </a:solidFill>
              </a:rPr>
              <a:t>Moe</a:t>
            </a:r>
            <a:endParaRPr lang="en-US" sz="1200" dirty="0"/>
          </a:p>
        </p:txBody>
      </p:sp>
      <p:sp>
        <p:nvSpPr>
          <p:cNvPr id="32" name="Shape 26"/>
          <p:cNvSpPr/>
          <p:nvPr/>
        </p:nvSpPr>
        <p:spPr>
          <a:xfrm>
            <a:off x="10167854" y="1920240"/>
            <a:ext cx="914400" cy="914400"/>
          </a:xfrm>
          <a:prstGeom prst="ellipse">
            <a:avLst/>
          </a:prstGeom>
          <a:solidFill>
            <a:schemeClr val="accent1"/>
          </a:solidFill>
          <a:ln/>
        </p:spPr>
      </p:sp>
      <p:pic>
        <p:nvPicPr>
          <p:cNvPr id="33" name="Image 4" descr="preencoded.png">    </p:cNvPr>
          <p:cNvPicPr>
            <a:picLocks noChangeAspect="1"/>
          </p:cNvPicPr>
          <p:nvPr/>
        </p:nvPicPr>
        <p:blipFill>
          <a:blip r:embed="rId5"/>
          <a:stretch>
            <a:fillRect/>
          </a:stretch>
        </p:blipFill>
        <p:spPr>
          <a:xfrm>
            <a:off x="10396454" y="2148840"/>
            <a:ext cx="457200" cy="457200"/>
          </a:xfrm>
          <a:prstGeom prst="rect">
            <a:avLst/>
          </a:prstGeom>
        </p:spPr>
      </p:pic>
      <p:sp>
        <p:nvSpPr>
          <p:cNvPr id="34" name="Text 27"/>
          <p:cNvSpPr txBox="1"/>
          <p:nvPr/>
        </p:nvSpPr>
        <p:spPr>
          <a:xfrm>
            <a:off x="9607052" y="3063240"/>
            <a:ext cx="2036003" cy="411480"/>
          </a:xfrm>
          <a:prstGeom prst="rect">
            <a:avLst/>
          </a:prstGeom>
          <a:noFill/>
          <a:ln/>
        </p:spPr>
        <p:txBody>
          <a:bodyPr wrap="square" lIns="0" tIns="0" rIns="0" bIns="0" rtlCol="0" anchor="t"/>
          <a:lstStyle/>
          <a:p>
            <a:pPr algn="ctr" indent="0" marL="0">
              <a:buNone/>
            </a:pPr>
            <a:r>
              <a:rPr lang="en-US" sz="1800" b="1" dirty="0">
                <a:solidFill>
                  <a:schemeClr val="bg1"/>
                </a:solidFill>
              </a:rPr>
              <a:t>Lecturer monitors</a:t>
            </a:r>
            <a:endParaRPr lang="en-US" sz="1800" dirty="0"/>
          </a:p>
        </p:txBody>
      </p:sp>
      <p:sp>
        <p:nvSpPr>
          <p:cNvPr id="35" name="Text 28"/>
          <p:cNvSpPr txBox="1"/>
          <p:nvPr/>
        </p:nvSpPr>
        <p:spPr>
          <a:xfrm>
            <a:off x="9652772" y="3520440"/>
            <a:ext cx="1944563" cy="868680"/>
          </a:xfrm>
          <a:prstGeom prst="rect">
            <a:avLst/>
          </a:prstGeom>
          <a:noFill/>
          <a:ln/>
        </p:spPr>
        <p:txBody>
          <a:bodyPr wrap="square" lIns="0" tIns="0" rIns="0" bIns="0" rtlCol="0" anchor="t"/>
          <a:lstStyle/>
          <a:p>
            <a:pPr algn="ctr" indent="0" marL="0">
              <a:buNone/>
            </a:pPr>
            <a:r>
              <a:rPr lang="en-US" sz="1400" dirty="0">
                <a:solidFill>
                  <a:schemeClr val="accent6"/>
                </a:solidFill>
              </a:rPr>
              <a:t>Dashboard statuses and Sihle's profile</a:t>
            </a:r>
            <a:endParaRPr lang="en-US" sz="1400" dirty="0"/>
          </a:p>
        </p:txBody>
      </p:sp>
      <p:sp>
        <p:nvSpPr>
          <p:cNvPr id="36" name="Shape 29"/>
          <p:cNvSpPr/>
          <p:nvPr/>
        </p:nvSpPr>
        <p:spPr>
          <a:xfrm>
            <a:off x="10122134" y="4480560"/>
            <a:ext cx="1005840" cy="292608"/>
          </a:xfrm>
          <a:prstGeom prst="roundRect">
            <a:avLst>
              <a:gd name="adj" fmla="val 50000"/>
            </a:avLst>
          </a:prstGeom>
          <a:solidFill>
            <a:schemeClr val="bg2"/>
          </a:solidFill>
          <a:ln/>
        </p:spPr>
      </p:sp>
      <p:sp>
        <p:nvSpPr>
          <p:cNvPr id="37" name="Text 30"/>
          <p:cNvSpPr txBox="1"/>
          <p:nvPr/>
        </p:nvSpPr>
        <p:spPr>
          <a:xfrm>
            <a:off x="10122134" y="4480560"/>
            <a:ext cx="1005840" cy="292608"/>
          </a:xfrm>
          <a:prstGeom prst="rect">
            <a:avLst/>
          </a:prstGeom>
          <a:noFill/>
          <a:ln/>
        </p:spPr>
        <p:txBody>
          <a:bodyPr wrap="square" lIns="0" tIns="0" rIns="0" bIns="0" rtlCol="0" anchor="ctr"/>
          <a:lstStyle/>
          <a:p>
            <a:pPr algn="ctr" indent="0" marL="0">
              <a:buNone/>
            </a:pPr>
            <a:r>
              <a:rPr lang="en-US" sz="1200" b="1" dirty="0">
                <a:solidFill>
                  <a:schemeClr val="tx2"/>
                </a:solidFill>
              </a:rPr>
              <a:t>Gedion</a:t>
            </a:r>
            <a:endParaRPr lang="en-US" sz="1200" dirty="0"/>
          </a:p>
        </p:txBody>
      </p:sp>
      <p:sp>
        <p:nvSpPr>
          <p:cNvPr id="38" name="Shape 31"/>
          <p:cNvSpPr/>
          <p:nvPr/>
        </p:nvSpPr>
        <p:spPr>
          <a:xfrm>
            <a:off x="548640" y="5257800"/>
            <a:ext cx="11094415" cy="777240"/>
          </a:xfrm>
          <a:prstGeom prst="roundRect">
            <a:avLst>
              <a:gd name="adj" fmla="val 9412"/>
            </a:avLst>
          </a:prstGeom>
          <a:solidFill>
            <a:schemeClr val="accent1">
              <a:alpha val="30000"/>
            </a:schemeClr>
          </a:solidFill>
          <a:ln/>
        </p:spPr>
      </p:sp>
      <p:pic>
        <p:nvPicPr>
          <p:cNvPr id="39" name="Image 5" descr="preencoded.png">    </p:cNvPr>
          <p:cNvPicPr>
            <a:picLocks noChangeAspect="1"/>
          </p:cNvPicPr>
          <p:nvPr/>
        </p:nvPicPr>
        <p:blipFill>
          <a:blip r:embed="rId6"/>
          <a:stretch>
            <a:fillRect/>
          </a:stretch>
        </p:blipFill>
        <p:spPr>
          <a:xfrm>
            <a:off x="822960" y="5440680"/>
            <a:ext cx="411480" cy="411480"/>
          </a:xfrm>
          <a:prstGeom prst="rect">
            <a:avLst/>
          </a:prstGeom>
        </p:spPr>
      </p:pic>
      <p:sp>
        <p:nvSpPr>
          <p:cNvPr id="40" name="Text 32"/>
          <p:cNvSpPr txBox="1"/>
          <p:nvPr/>
        </p:nvSpPr>
        <p:spPr>
          <a:xfrm>
            <a:off x="1463040" y="5257800"/>
            <a:ext cx="10058400" cy="777240"/>
          </a:xfrm>
          <a:prstGeom prst="rect">
            <a:avLst/>
          </a:prstGeom>
          <a:noFill/>
          <a:ln/>
        </p:spPr>
        <p:txBody>
          <a:bodyPr wrap="square" lIns="0" tIns="0" rIns="0" bIns="0" rtlCol="0" anchor="ctr"/>
          <a:lstStyle/>
          <a:p>
            <a:pPr indent="0" marL="0">
              <a:buNone/>
            </a:pPr>
            <a:r>
              <a:rPr lang="en-US" sz="1500" dirty="0">
                <a:solidFill>
                  <a:schemeClr val="bg1"/>
                </a:solidFill>
              </a:rPr>
              <a:t>Synthetic demo data  ·  runs locally, no Wi-Fi needed  ·  backup: recorded walkthrough and the screenshots on the backup slides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rPr>
              <a:t>Testing: 80 of 81 test cases passed</a:t>
            </a:r>
            <a:endParaRPr lang="en-US" sz="3400" dirty="0"/>
          </a:p>
        </p:txBody>
      </p:sp>
      <p:sp>
        <p:nvSpPr>
          <p:cNvPr id="3" name="Text 1"/>
          <p:cNvSpPr txBox="1"/>
          <p:nvPr/>
        </p:nvSpPr>
        <p:spPr>
          <a:xfrm>
            <a:off x="548640" y="1280160"/>
            <a:ext cx="1325880" cy="868680"/>
          </a:xfrm>
          <a:prstGeom prst="rect">
            <a:avLst/>
          </a:prstGeom>
          <a:noFill/>
          <a:ln/>
        </p:spPr>
        <p:txBody>
          <a:bodyPr wrap="square" lIns="0" tIns="0" rIns="0" bIns="0" rtlCol="0" anchor="t"/>
          <a:lstStyle/>
          <a:p>
            <a:pPr indent="0" marL="0">
              <a:buNone/>
            </a:pPr>
            <a:r>
              <a:rPr lang="en-US" sz="5400" b="1" dirty="0">
                <a:solidFill>
                  <a:schemeClr val="tx2"/>
                </a:solidFill>
              </a:rPr>
              <a:t>81</a:t>
            </a:r>
            <a:endParaRPr lang="en-US" sz="5400" dirty="0"/>
          </a:p>
        </p:txBody>
      </p:sp>
      <p:sp>
        <p:nvSpPr>
          <p:cNvPr id="4" name="Text 2"/>
          <p:cNvSpPr txBox="1"/>
          <p:nvPr/>
        </p:nvSpPr>
        <p:spPr>
          <a:xfrm>
            <a:off x="548640" y="2148840"/>
            <a:ext cx="1325880" cy="320040"/>
          </a:xfrm>
          <a:prstGeom prst="rect">
            <a:avLst/>
          </a:prstGeom>
          <a:noFill/>
          <a:ln/>
        </p:spPr>
        <p:txBody>
          <a:bodyPr wrap="square" lIns="0" tIns="0" rIns="0" bIns="0" rtlCol="0" anchor="t"/>
          <a:lstStyle/>
          <a:p>
            <a:pPr indent="0" marL="0">
              <a:buNone/>
            </a:pPr>
            <a:r>
              <a:rPr lang="en-US" sz="1500" b="1" dirty="0">
                <a:solidFill>
                  <a:schemeClr val="tx1"/>
                </a:solidFill>
              </a:rPr>
              <a:t>test cases</a:t>
            </a:r>
            <a:endParaRPr lang="en-US" sz="1500" dirty="0"/>
          </a:p>
        </p:txBody>
      </p:sp>
      <p:sp>
        <p:nvSpPr>
          <p:cNvPr id="5" name="Text 3"/>
          <p:cNvSpPr txBox="1"/>
          <p:nvPr/>
        </p:nvSpPr>
        <p:spPr>
          <a:xfrm>
            <a:off x="1965960" y="1280160"/>
            <a:ext cx="1325880" cy="868680"/>
          </a:xfrm>
          <a:prstGeom prst="rect">
            <a:avLst/>
          </a:prstGeom>
          <a:noFill/>
          <a:ln/>
        </p:spPr>
        <p:txBody>
          <a:bodyPr wrap="square" lIns="0" tIns="0" rIns="0" bIns="0" rtlCol="0" anchor="t"/>
          <a:lstStyle/>
          <a:p>
            <a:pPr indent="0" marL="0">
              <a:buNone/>
            </a:pPr>
            <a:r>
              <a:rPr lang="en-US" sz="5400" b="1" dirty="0">
                <a:solidFill>
                  <a:schemeClr val="accent1"/>
                </a:solidFill>
              </a:rPr>
              <a:t>80</a:t>
            </a:r>
            <a:endParaRPr lang="en-US" sz="5400" dirty="0"/>
          </a:p>
        </p:txBody>
      </p:sp>
      <p:sp>
        <p:nvSpPr>
          <p:cNvPr id="6" name="Text 4"/>
          <p:cNvSpPr txBox="1"/>
          <p:nvPr/>
        </p:nvSpPr>
        <p:spPr>
          <a:xfrm>
            <a:off x="1965960" y="2148840"/>
            <a:ext cx="1325880" cy="320040"/>
          </a:xfrm>
          <a:prstGeom prst="rect">
            <a:avLst/>
          </a:prstGeom>
          <a:noFill/>
          <a:ln/>
        </p:spPr>
        <p:txBody>
          <a:bodyPr wrap="square" lIns="0" tIns="0" rIns="0" bIns="0" rtlCol="0" anchor="t"/>
          <a:lstStyle/>
          <a:p>
            <a:pPr indent="0" marL="0">
              <a:buNone/>
            </a:pPr>
            <a:r>
              <a:rPr lang="en-US" sz="1500" b="1" dirty="0">
                <a:solidFill>
                  <a:schemeClr val="tx1"/>
                </a:solidFill>
              </a:rPr>
              <a:t>passed</a:t>
            </a:r>
            <a:endParaRPr lang="en-US" sz="1500" dirty="0"/>
          </a:p>
        </p:txBody>
      </p:sp>
      <p:sp>
        <p:nvSpPr>
          <p:cNvPr id="7" name="Text 5"/>
          <p:cNvSpPr txBox="1"/>
          <p:nvPr/>
        </p:nvSpPr>
        <p:spPr>
          <a:xfrm>
            <a:off x="3383280" y="1280160"/>
            <a:ext cx="1325880" cy="868680"/>
          </a:xfrm>
          <a:prstGeom prst="rect">
            <a:avLst/>
          </a:prstGeom>
          <a:noFill/>
          <a:ln/>
        </p:spPr>
        <p:txBody>
          <a:bodyPr wrap="square" lIns="0" tIns="0" rIns="0" bIns="0" rtlCol="0" anchor="t"/>
          <a:lstStyle/>
          <a:p>
            <a:pPr indent="0" marL="0">
              <a:buNone/>
            </a:pPr>
            <a:r>
              <a:rPr lang="en-US" sz="5400" b="1" dirty="0">
                <a:solidFill>
                  <a:schemeClr val="accent5"/>
                </a:solidFill>
              </a:rPr>
              <a:t>0</a:t>
            </a:r>
            <a:endParaRPr lang="en-US" sz="5400" dirty="0"/>
          </a:p>
        </p:txBody>
      </p:sp>
      <p:sp>
        <p:nvSpPr>
          <p:cNvPr id="8" name="Text 6"/>
          <p:cNvSpPr txBox="1"/>
          <p:nvPr/>
        </p:nvSpPr>
        <p:spPr>
          <a:xfrm>
            <a:off x="3383280" y="2148840"/>
            <a:ext cx="1325880" cy="320040"/>
          </a:xfrm>
          <a:prstGeom prst="rect">
            <a:avLst/>
          </a:prstGeom>
          <a:noFill/>
          <a:ln/>
        </p:spPr>
        <p:txBody>
          <a:bodyPr wrap="square" lIns="0" tIns="0" rIns="0" bIns="0" rtlCol="0" anchor="t"/>
          <a:lstStyle/>
          <a:p>
            <a:pPr indent="0" marL="0">
              <a:buNone/>
            </a:pPr>
            <a:r>
              <a:rPr lang="en-US" sz="1500" b="1" dirty="0">
                <a:solidFill>
                  <a:schemeClr val="tx1"/>
                </a:solidFill>
              </a:rPr>
              <a:t>failed</a:t>
            </a:r>
            <a:endParaRPr lang="en-US" sz="1500" dirty="0"/>
          </a:p>
        </p:txBody>
      </p:sp>
      <p:sp>
        <p:nvSpPr>
          <p:cNvPr id="9" name="Text 7"/>
          <p:cNvSpPr txBox="1"/>
          <p:nvPr/>
        </p:nvSpPr>
        <p:spPr>
          <a:xfrm>
            <a:off x="4800600" y="1280160"/>
            <a:ext cx="1325880" cy="868680"/>
          </a:xfrm>
          <a:prstGeom prst="rect">
            <a:avLst/>
          </a:prstGeom>
          <a:noFill/>
          <a:ln/>
        </p:spPr>
        <p:txBody>
          <a:bodyPr wrap="square" lIns="0" tIns="0" rIns="0" bIns="0" rtlCol="0" anchor="t"/>
          <a:lstStyle/>
          <a:p>
            <a:pPr indent="0" marL="0">
              <a:buNone/>
            </a:pPr>
            <a:r>
              <a:rPr lang="en-US" sz="5400" b="1" dirty="0">
                <a:solidFill>
                  <a:schemeClr val="accent2"/>
                </a:solidFill>
              </a:rPr>
              <a:t>1</a:t>
            </a:r>
            <a:endParaRPr lang="en-US" sz="5400" dirty="0"/>
          </a:p>
        </p:txBody>
      </p:sp>
      <p:sp>
        <p:nvSpPr>
          <p:cNvPr id="10" name="Text 8"/>
          <p:cNvSpPr txBox="1"/>
          <p:nvPr/>
        </p:nvSpPr>
        <p:spPr>
          <a:xfrm>
            <a:off x="4800600" y="2148840"/>
            <a:ext cx="1325880" cy="320040"/>
          </a:xfrm>
          <a:prstGeom prst="rect">
            <a:avLst/>
          </a:prstGeom>
          <a:noFill/>
          <a:ln/>
        </p:spPr>
        <p:txBody>
          <a:bodyPr wrap="square" lIns="0" tIns="0" rIns="0" bIns="0" rtlCol="0" anchor="t"/>
          <a:lstStyle/>
          <a:p>
            <a:pPr indent="0" marL="0">
              <a:buNone/>
            </a:pPr>
            <a:r>
              <a:rPr lang="en-US" sz="1500" b="1" dirty="0">
                <a:solidFill>
                  <a:schemeClr val="tx1"/>
                </a:solidFill>
              </a:rPr>
              <a:t>blocked</a:t>
            </a:r>
            <a:endParaRPr lang="en-US" sz="1500" dirty="0"/>
          </a:p>
        </p:txBody>
      </p:sp>
      <p:sp>
        <p:nvSpPr>
          <p:cNvPr id="11" name="Text 9"/>
          <p:cNvSpPr txBox="1"/>
          <p:nvPr/>
        </p:nvSpPr>
        <p:spPr>
          <a:xfrm>
            <a:off x="548640" y="2606040"/>
            <a:ext cx="5394960" cy="548640"/>
          </a:xfrm>
          <a:prstGeom prst="rect">
            <a:avLst/>
          </a:prstGeom>
          <a:noFill/>
          <a:ln/>
        </p:spPr>
        <p:txBody>
          <a:bodyPr wrap="square" lIns="0" tIns="0" rIns="0" bIns="0" rtlCol="0" anchor="t"/>
          <a:lstStyle/>
          <a:p>
            <a:pPr indent="0" marL="0">
              <a:buNone/>
            </a:pPr>
            <a:r>
              <a:rPr lang="en-US" sz="1300" dirty="0">
                <a:solidFill>
                  <a:schemeClr val="accent5"/>
                </a:solidFill>
              </a:rPr>
              <a:t>Blocked: TC-149, the timed usability test with students, waits for written campus permission.</a:t>
            </a:r>
            <a:endParaRPr lang="en-US" sz="1300" dirty="0"/>
          </a:p>
        </p:txBody>
      </p:sp>
      <p:sp>
        <p:nvSpPr>
          <p:cNvPr id="12" name="Shape 10"/>
          <p:cNvSpPr/>
          <p:nvPr/>
        </p:nvSpPr>
        <p:spPr>
          <a:xfrm>
            <a:off x="548640" y="3383280"/>
            <a:ext cx="548640" cy="548640"/>
          </a:xfrm>
          <a:prstGeom prst="ellipse">
            <a:avLst/>
          </a:prstGeom>
          <a:solidFill>
            <a:schemeClr val="accent1"/>
          </a:solidFill>
          <a:ln/>
        </p:spPr>
      </p:sp>
      <p:pic>
        <p:nvPicPr>
          <p:cNvPr id="13" name="Image 0" descr="preencoded.png">    </p:cNvPr>
          <p:cNvPicPr>
            <a:picLocks noChangeAspect="1"/>
          </p:cNvPicPr>
          <p:nvPr/>
        </p:nvPicPr>
        <p:blipFill>
          <a:blip r:embed="rId1"/>
          <a:stretch>
            <a:fillRect/>
          </a:stretch>
        </p:blipFill>
        <p:spPr>
          <a:xfrm>
            <a:off x="685800" y="3520440"/>
            <a:ext cx="274320" cy="274320"/>
          </a:xfrm>
          <a:prstGeom prst="rect">
            <a:avLst/>
          </a:prstGeom>
        </p:spPr>
      </p:pic>
      <p:sp>
        <p:nvSpPr>
          <p:cNvPr id="14" name="Text 11"/>
          <p:cNvSpPr txBox="1"/>
          <p:nvPr/>
        </p:nvSpPr>
        <p:spPr>
          <a:xfrm>
            <a:off x="1280160" y="3355848"/>
            <a:ext cx="4754880" cy="320040"/>
          </a:xfrm>
          <a:prstGeom prst="rect">
            <a:avLst/>
          </a:prstGeom>
          <a:noFill/>
          <a:ln/>
        </p:spPr>
        <p:txBody>
          <a:bodyPr wrap="square" lIns="0" tIns="0" rIns="0" bIns="0" rtlCol="0" anchor="t"/>
          <a:lstStyle/>
          <a:p>
            <a:pPr indent="0" marL="0">
              <a:buNone/>
            </a:pPr>
            <a:r>
              <a:rPr lang="en-US" sz="1600" b="1" dirty="0">
                <a:solidFill>
                  <a:schemeClr val="tx2"/>
                </a:solidFill>
              </a:rPr>
              <a:t>62 of 62 automated tests pass</a:t>
            </a:r>
            <a:endParaRPr lang="en-US" sz="1600" dirty="0"/>
          </a:p>
        </p:txBody>
      </p:sp>
      <p:sp>
        <p:nvSpPr>
          <p:cNvPr id="15" name="Text 12"/>
          <p:cNvSpPr txBox="1"/>
          <p:nvPr/>
        </p:nvSpPr>
        <p:spPr>
          <a:xfrm>
            <a:off x="1280160" y="3685032"/>
            <a:ext cx="4754880" cy="548640"/>
          </a:xfrm>
          <a:prstGeom prst="rect">
            <a:avLst/>
          </a:prstGeom>
          <a:noFill/>
          <a:ln/>
        </p:spPr>
        <p:txBody>
          <a:bodyPr wrap="square" lIns="0" tIns="0" rIns="0" bIns="0" rtlCol="0" anchor="t"/>
          <a:lstStyle/>
          <a:p>
            <a:pPr indent="0" marL="0">
              <a:buNone/>
            </a:pPr>
            <a:r>
              <a:rPr lang="en-US" sz="1300" dirty="0">
                <a:solidFill>
                  <a:schemeClr val="tx1"/>
                </a:solidFill>
              </a:rPr>
              <a:t>npm run test:system checks the response and the database; final run 26 Oct 2026 on Next.js 16.4.3</a:t>
            </a:r>
            <a:endParaRPr lang="en-US" sz="1300" dirty="0"/>
          </a:p>
        </p:txBody>
      </p:sp>
      <p:sp>
        <p:nvSpPr>
          <p:cNvPr id="16" name="Shape 13"/>
          <p:cNvSpPr/>
          <p:nvPr/>
        </p:nvSpPr>
        <p:spPr>
          <a:xfrm>
            <a:off x="548640" y="4343400"/>
            <a:ext cx="548640" cy="548640"/>
          </a:xfrm>
          <a:prstGeom prst="ellipse">
            <a:avLst/>
          </a:prstGeom>
          <a:solidFill>
            <a:schemeClr val="accent1"/>
          </a:solidFill>
          <a:ln/>
        </p:spPr>
      </p:sp>
      <p:pic>
        <p:nvPicPr>
          <p:cNvPr id="17" name="Image 1" descr="preencoded.png">    </p:cNvPr>
          <p:cNvPicPr>
            <a:picLocks noChangeAspect="1"/>
          </p:cNvPicPr>
          <p:nvPr/>
        </p:nvPicPr>
        <p:blipFill>
          <a:blip r:embed="rId2"/>
          <a:stretch>
            <a:fillRect/>
          </a:stretch>
        </p:blipFill>
        <p:spPr>
          <a:xfrm>
            <a:off x="685800" y="4480560"/>
            <a:ext cx="274320" cy="274320"/>
          </a:xfrm>
          <a:prstGeom prst="rect">
            <a:avLst/>
          </a:prstGeom>
        </p:spPr>
      </p:pic>
      <p:sp>
        <p:nvSpPr>
          <p:cNvPr id="18" name="Text 14"/>
          <p:cNvSpPr txBox="1"/>
          <p:nvPr/>
        </p:nvSpPr>
        <p:spPr>
          <a:xfrm>
            <a:off x="1280160" y="4315968"/>
            <a:ext cx="4754880" cy="320040"/>
          </a:xfrm>
          <a:prstGeom prst="rect">
            <a:avLst/>
          </a:prstGeom>
          <a:noFill/>
          <a:ln/>
        </p:spPr>
        <p:txBody>
          <a:bodyPr wrap="square" lIns="0" tIns="0" rIns="0" bIns="0" rtlCol="0" anchor="t"/>
          <a:lstStyle/>
          <a:p>
            <a:pPr indent="0" marL="0">
              <a:buNone/>
            </a:pPr>
            <a:r>
              <a:rPr lang="en-US" sz="1600" b="1" dirty="0">
                <a:solidFill>
                  <a:schemeClr val="tx2"/>
                </a:solidFill>
              </a:rPr>
              <a:t>Security tested on its own</a:t>
            </a:r>
            <a:endParaRPr lang="en-US" sz="1600" dirty="0"/>
          </a:p>
        </p:txBody>
      </p:sp>
      <p:sp>
        <p:nvSpPr>
          <p:cNvPr id="19" name="Text 15"/>
          <p:cNvSpPr txBox="1"/>
          <p:nvPr/>
        </p:nvSpPr>
        <p:spPr>
          <a:xfrm>
            <a:off x="1280160" y="4645152"/>
            <a:ext cx="4754880" cy="548640"/>
          </a:xfrm>
          <a:prstGeom prst="rect">
            <a:avLst/>
          </a:prstGeom>
          <a:noFill/>
          <a:ln/>
        </p:spPr>
        <p:txBody>
          <a:bodyPr wrap="square" lIns="0" tIns="0" rIns="0" bIns="0" rtlCol="0" anchor="t"/>
          <a:lstStyle/>
          <a:p>
            <a:pPr indent="0" marL="0">
              <a:buNone/>
            </a:pPr>
            <a:r>
              <a:rPr lang="en-US" sz="1300" dirty="0">
                <a:solidFill>
                  <a:schemeClr val="tx1"/>
                </a:solidFill>
              </a:rPr>
              <a:t>Forged cookies, other students' files and blocked pages are all refused</a:t>
            </a:r>
            <a:endParaRPr lang="en-US" sz="1300" dirty="0"/>
          </a:p>
        </p:txBody>
      </p:sp>
      <p:sp>
        <p:nvSpPr>
          <p:cNvPr id="20" name="Shape 16"/>
          <p:cNvSpPr/>
          <p:nvPr/>
        </p:nvSpPr>
        <p:spPr>
          <a:xfrm>
            <a:off x="548640" y="5303520"/>
            <a:ext cx="548640" cy="548640"/>
          </a:xfrm>
          <a:prstGeom prst="ellipse">
            <a:avLst/>
          </a:prstGeom>
          <a:solidFill>
            <a:schemeClr val="accent1"/>
          </a:solidFill>
          <a:ln/>
        </p:spPr>
      </p:sp>
      <p:pic>
        <p:nvPicPr>
          <p:cNvPr id="21" name="Image 2" descr="preencoded.png">    </p:cNvPr>
          <p:cNvPicPr>
            <a:picLocks noChangeAspect="1"/>
          </p:cNvPicPr>
          <p:nvPr/>
        </p:nvPicPr>
        <p:blipFill>
          <a:blip r:embed="rId3"/>
          <a:stretch>
            <a:fillRect/>
          </a:stretch>
        </p:blipFill>
        <p:spPr>
          <a:xfrm>
            <a:off x="685800" y="5440680"/>
            <a:ext cx="274320" cy="274320"/>
          </a:xfrm>
          <a:prstGeom prst="rect">
            <a:avLst/>
          </a:prstGeom>
        </p:spPr>
      </p:pic>
      <p:sp>
        <p:nvSpPr>
          <p:cNvPr id="22" name="Text 17"/>
          <p:cNvSpPr txBox="1"/>
          <p:nvPr/>
        </p:nvSpPr>
        <p:spPr>
          <a:xfrm>
            <a:off x="1280160" y="5276088"/>
            <a:ext cx="4754880" cy="320040"/>
          </a:xfrm>
          <a:prstGeom prst="rect">
            <a:avLst/>
          </a:prstGeom>
          <a:noFill/>
          <a:ln/>
        </p:spPr>
        <p:txBody>
          <a:bodyPr wrap="square" lIns="0" tIns="0" rIns="0" bIns="0" rtlCol="0" anchor="t"/>
          <a:lstStyle/>
          <a:p>
            <a:pPr indent="0" marL="0">
              <a:buNone/>
            </a:pPr>
            <a:r>
              <a:rPr lang="en-US" sz="1600" b="1" dirty="0">
                <a:solidFill>
                  <a:schemeClr val="tx2"/>
                </a:solidFill>
              </a:rPr>
              <a:t>Chrome and Edge, phone and desktop</a:t>
            </a:r>
            <a:endParaRPr lang="en-US" sz="1600" dirty="0"/>
          </a:p>
        </p:txBody>
      </p:sp>
      <p:sp>
        <p:nvSpPr>
          <p:cNvPr id="23" name="Text 18"/>
          <p:cNvSpPr txBox="1"/>
          <p:nvPr/>
        </p:nvSpPr>
        <p:spPr>
          <a:xfrm>
            <a:off x="1280160" y="5605272"/>
            <a:ext cx="4754880" cy="548640"/>
          </a:xfrm>
          <a:prstGeom prst="rect">
            <a:avLst/>
          </a:prstGeom>
          <a:noFill/>
          <a:ln/>
        </p:spPr>
        <p:txBody>
          <a:bodyPr wrap="square" lIns="0" tIns="0" rIns="0" bIns="0" rtlCol="0" anchor="t"/>
          <a:lstStyle/>
          <a:p>
            <a:pPr indent="0" marL="0">
              <a:buNone/>
            </a:pPr>
            <a:r>
              <a:rPr lang="en-US" sz="1300" dirty="0">
                <a:solidFill>
                  <a:schemeClr val="tx1"/>
                </a:solidFill>
              </a:rPr>
              <a:t>Every main screen fits a 375-pixel phone; the mentor page needs no sideways scrolling</a:t>
            </a:r>
            <a:endParaRPr lang="en-US" sz="1300" dirty="0"/>
          </a:p>
        </p:txBody>
      </p:sp>
      <p:sp>
        <p:nvSpPr>
          <p:cNvPr id="24" name="Shape 19"/>
          <p:cNvSpPr/>
          <p:nvPr/>
        </p:nvSpPr>
        <p:spPr>
          <a:xfrm>
            <a:off x="6263640" y="1325880"/>
            <a:ext cx="5379415" cy="4754880"/>
          </a:xfrm>
          <a:prstGeom prst="roundRect">
            <a:avLst>
              <a:gd name="adj" fmla="val 1923"/>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graphicFrame>
        <p:nvGraphicFramePr>
          <p:cNvPr id="25" name="Chart 0" descr=""/>
          <p:cNvGraphicFramePr/>
          <p:nvPr/>
        </p:nvGraphicFramePr>
        <p:xfrm>
          <a:off x="6400800" y="1463040"/>
          <a:ext cx="5105095" cy="4023360"/>
        </p:xfrm>
        <a:graphic xmlns:a="http://schemas.openxmlformats.org/drawingml/2006/main">
          <a:graphicData uri="http://schemas.openxmlformats.org/drawingml/2006/chart">
            <c:chart xmlns:c="http://schemas.openxmlformats.org/drawingml/2006/chart" r:id="rId4"/>
          </a:graphicData>
        </a:graphic>
      </p:graphicFrame>
      <p:sp>
        <p:nvSpPr>
          <p:cNvPr id="26" name="Text 20"/>
          <p:cNvSpPr txBox="1"/>
          <p:nvPr/>
        </p:nvSpPr>
        <p:spPr>
          <a:xfrm>
            <a:off x="6537960" y="5486400"/>
            <a:ext cx="4830775" cy="502920"/>
          </a:xfrm>
          <a:prstGeom prst="rect">
            <a:avLst/>
          </a:prstGeom>
          <a:noFill/>
          <a:ln/>
        </p:spPr>
        <p:txBody>
          <a:bodyPr wrap="square" lIns="0" tIns="0" rIns="0" bIns="0" rtlCol="0" anchor="t"/>
          <a:lstStyle/>
          <a:p>
            <a:pPr indent="0" marL="0">
              <a:buNone/>
            </a:pPr>
            <a:r>
              <a:rPr lang="en-US" sz="1300" b="1" dirty="0">
                <a:solidFill>
                  <a:schemeClr val="accent1"/>
                </a:solidFill>
              </a:rPr>
              <a:t>Target: under 2,000 ms. </a:t>
            </a:r>
            <a:pPr indent="0" marL="0">
              <a:buNone/>
            </a:pPr>
            <a:r>
              <a:rPr lang="en-US" sz="1300" dirty="0">
                <a:solidFill>
                  <a:schemeClr val="tx1"/>
                </a:solidFill>
              </a:rPr>
              <a:t>Every page answers hundreds of times faster (measured on the test computer).</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rPr>
              <a:t>Defects found, fixed and retested</a:t>
            </a:r>
            <a:endParaRPr lang="en-US" sz="3400" dirty="0"/>
          </a:p>
        </p:txBody>
      </p:sp>
      <p:sp>
        <p:nvSpPr>
          <p:cNvPr id="3" name="Shape 1"/>
          <p:cNvSpPr/>
          <p:nvPr/>
        </p:nvSpPr>
        <p:spPr>
          <a:xfrm>
            <a:off x="548640" y="1325880"/>
            <a:ext cx="5410048" cy="2148840"/>
          </a:xfrm>
          <a:prstGeom prst="roundRect">
            <a:avLst>
              <a:gd name="adj" fmla="val 4255"/>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Shape 2"/>
          <p:cNvSpPr/>
          <p:nvPr/>
        </p:nvSpPr>
        <p:spPr>
          <a:xfrm>
            <a:off x="777240" y="1554480"/>
            <a:ext cx="548640" cy="548640"/>
          </a:xfrm>
          <a:prstGeom prst="ellipse">
            <a:avLst/>
          </a:prstGeom>
          <a:solidFill>
            <a:schemeClr val="accent3"/>
          </a:solidFill>
          <a:ln/>
        </p:spPr>
      </p:sp>
      <p:pic>
        <p:nvPicPr>
          <p:cNvPr id="5" name="Image 0" descr="preencoded.png">    </p:cNvPr>
          <p:cNvPicPr>
            <a:picLocks noChangeAspect="1"/>
          </p:cNvPicPr>
          <p:nvPr/>
        </p:nvPicPr>
        <p:blipFill>
          <a:blip r:embed="rId1"/>
          <a:stretch>
            <a:fillRect/>
          </a:stretch>
        </p:blipFill>
        <p:spPr>
          <a:xfrm>
            <a:off x="914400" y="1691640"/>
            <a:ext cx="274320" cy="274320"/>
          </a:xfrm>
          <a:prstGeom prst="rect">
            <a:avLst/>
          </a:prstGeom>
        </p:spPr>
      </p:pic>
      <p:sp>
        <p:nvSpPr>
          <p:cNvPr id="6" name="Text 3"/>
          <p:cNvSpPr txBox="1"/>
          <p:nvPr/>
        </p:nvSpPr>
        <p:spPr>
          <a:xfrm>
            <a:off x="1508760" y="1554480"/>
            <a:ext cx="3032608" cy="548640"/>
          </a:xfrm>
          <a:prstGeom prst="rect">
            <a:avLst/>
          </a:prstGeom>
          <a:noFill/>
          <a:ln/>
        </p:spPr>
        <p:txBody>
          <a:bodyPr wrap="square" lIns="0" tIns="0" rIns="0" bIns="0" rtlCol="0" anchor="ctr"/>
          <a:lstStyle/>
          <a:p>
            <a:pPr indent="0" marL="0">
              <a:buNone/>
            </a:pPr>
            <a:r>
              <a:rPr lang="en-US" sz="1800" b="1" dirty="0">
                <a:solidFill>
                  <a:schemeClr val="accent3"/>
                </a:solidFill>
              </a:rPr>
              <a:t>DEF-01  </a:t>
            </a:r>
            <a:pPr indent="0" marL="0">
              <a:buNone/>
            </a:pPr>
            <a:r>
              <a:rPr lang="en-US" sz="1800" b="1" dirty="0">
                <a:solidFill>
                  <a:schemeClr val="tx2"/>
                </a:solidFill>
              </a:rPr>
              <a:t>Forgeable cookie</a:t>
            </a:r>
            <a:endParaRPr lang="en-US" sz="1800" dirty="0"/>
          </a:p>
        </p:txBody>
      </p:sp>
      <p:sp>
        <p:nvSpPr>
          <p:cNvPr id="7" name="Shape 4"/>
          <p:cNvSpPr/>
          <p:nvPr/>
        </p:nvSpPr>
        <p:spPr>
          <a:xfrm>
            <a:off x="4632808" y="1682496"/>
            <a:ext cx="1097280" cy="292608"/>
          </a:xfrm>
          <a:prstGeom prst="roundRect">
            <a:avLst>
              <a:gd name="adj" fmla="val 50000"/>
            </a:avLst>
          </a:prstGeom>
          <a:solidFill>
            <a:schemeClr val="accent3"/>
          </a:solidFill>
          <a:ln/>
        </p:spPr>
      </p:sp>
      <p:sp>
        <p:nvSpPr>
          <p:cNvPr id="8" name="Text 5"/>
          <p:cNvSpPr txBox="1"/>
          <p:nvPr/>
        </p:nvSpPr>
        <p:spPr>
          <a:xfrm>
            <a:off x="4632808" y="1682496"/>
            <a:ext cx="1097280" cy="292608"/>
          </a:xfrm>
          <a:prstGeom prst="rect">
            <a:avLst/>
          </a:prstGeom>
          <a:noFill/>
          <a:ln/>
        </p:spPr>
        <p:txBody>
          <a:bodyPr wrap="square" lIns="0" tIns="0" rIns="0" bIns="0" rtlCol="0" anchor="ctr"/>
          <a:lstStyle/>
          <a:p>
            <a:pPr algn="ctr" indent="0" marL="0">
              <a:buNone/>
            </a:pPr>
            <a:r>
              <a:rPr lang="en-US" sz="1200" b="1" dirty="0">
                <a:solidFill>
                  <a:schemeClr val="bg1"/>
                </a:solidFill>
              </a:rPr>
              <a:t>Critical</a:t>
            </a:r>
            <a:endParaRPr lang="en-US" sz="1200" dirty="0"/>
          </a:p>
        </p:txBody>
      </p:sp>
      <p:sp>
        <p:nvSpPr>
          <p:cNvPr id="9" name="Text 6"/>
          <p:cNvSpPr txBox="1"/>
          <p:nvPr/>
        </p:nvSpPr>
        <p:spPr>
          <a:xfrm>
            <a:off x="822960" y="2240280"/>
            <a:ext cx="4861408" cy="548640"/>
          </a:xfrm>
          <a:prstGeom prst="rect">
            <a:avLst/>
          </a:prstGeom>
          <a:noFill/>
          <a:ln/>
        </p:spPr>
        <p:txBody>
          <a:bodyPr wrap="square" lIns="0" tIns="0" rIns="0" bIns="0" rtlCol="0" anchor="t"/>
          <a:lstStyle/>
          <a:p>
            <a:pPr indent="0" marL="0">
              <a:buNone/>
            </a:pPr>
            <a:r>
              <a:rPr lang="en-US" sz="1400" dirty="0">
                <a:solidFill>
                  <a:schemeClr val="tx1"/>
                </a:solidFill>
              </a:rPr>
              <a:t>Editing the cookie opened the coordinator dashboard without a password.</a:t>
            </a:r>
            <a:endParaRPr lang="en-US" sz="1400" dirty="0"/>
          </a:p>
        </p:txBody>
      </p:sp>
      <p:sp>
        <p:nvSpPr>
          <p:cNvPr id="10" name="Text 7"/>
          <p:cNvSpPr txBox="1"/>
          <p:nvPr/>
        </p:nvSpPr>
        <p:spPr>
          <a:xfrm>
            <a:off x="822960" y="2834640"/>
            <a:ext cx="4861408" cy="502920"/>
          </a:xfrm>
          <a:prstGeom prst="rect">
            <a:avLst/>
          </a:prstGeom>
          <a:noFill/>
          <a:ln/>
        </p:spPr>
        <p:txBody>
          <a:bodyPr wrap="square" lIns="0" tIns="0" rIns="0" bIns="0" rtlCol="0" anchor="t"/>
          <a:lstStyle/>
          <a:p>
            <a:pPr indent="0" marL="0">
              <a:buNone/>
            </a:pPr>
            <a:r>
              <a:rPr lang="en-US" sz="1400" b="1" dirty="0">
                <a:solidFill>
                  <a:schemeClr val="accent1"/>
                </a:solidFill>
              </a:rPr>
              <a:t>Fixed: </a:t>
            </a:r>
            <a:pPr indent="0" marL="0">
              <a:buNone/>
            </a:pPr>
            <a:r>
              <a:rPr lang="en-US" sz="1400" dirty="0">
                <a:solidFill>
                  <a:schemeClr val="tx1"/>
                </a:solidFill>
              </a:rPr>
              <a:t>Cookie is signed; forged ones rejected  ·  </a:t>
            </a:r>
            <a:pPr indent="0" marL="0">
              <a:buNone/>
            </a:pPr>
            <a:r>
              <a:rPr lang="en-US" sz="1400" b="1" dirty="0">
                <a:solidFill>
                  <a:schemeClr val="tx1"/>
                </a:solidFill>
              </a:rPr>
              <a:t>TC-121 passes</a:t>
            </a:r>
            <a:endParaRPr lang="en-US" sz="1400" dirty="0"/>
          </a:p>
        </p:txBody>
      </p:sp>
      <p:sp>
        <p:nvSpPr>
          <p:cNvPr id="11" name="Shape 8"/>
          <p:cNvSpPr/>
          <p:nvPr/>
        </p:nvSpPr>
        <p:spPr>
          <a:xfrm>
            <a:off x="6233008" y="1325880"/>
            <a:ext cx="5410048" cy="2148840"/>
          </a:xfrm>
          <a:prstGeom prst="roundRect">
            <a:avLst>
              <a:gd name="adj" fmla="val 4255"/>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6461608" y="1554480"/>
            <a:ext cx="548640" cy="548640"/>
          </a:xfrm>
          <a:prstGeom prst="ellipse">
            <a:avLst/>
          </a:prstGeom>
          <a:solidFill>
            <a:schemeClr val="accent3"/>
          </a:solidFill>
          <a:ln/>
        </p:spPr>
      </p:sp>
      <p:pic>
        <p:nvPicPr>
          <p:cNvPr id="13" name="Image 1" descr="preencoded.png">    </p:cNvPr>
          <p:cNvPicPr>
            <a:picLocks noChangeAspect="1"/>
          </p:cNvPicPr>
          <p:nvPr/>
        </p:nvPicPr>
        <p:blipFill>
          <a:blip r:embed="rId2"/>
          <a:stretch>
            <a:fillRect/>
          </a:stretch>
        </p:blipFill>
        <p:spPr>
          <a:xfrm>
            <a:off x="6598768" y="1691640"/>
            <a:ext cx="274320" cy="274320"/>
          </a:xfrm>
          <a:prstGeom prst="rect">
            <a:avLst/>
          </a:prstGeom>
        </p:spPr>
      </p:pic>
      <p:sp>
        <p:nvSpPr>
          <p:cNvPr id="14" name="Text 10"/>
          <p:cNvSpPr txBox="1"/>
          <p:nvPr/>
        </p:nvSpPr>
        <p:spPr>
          <a:xfrm>
            <a:off x="7193128" y="1554480"/>
            <a:ext cx="3032608" cy="548640"/>
          </a:xfrm>
          <a:prstGeom prst="rect">
            <a:avLst/>
          </a:prstGeom>
          <a:noFill/>
          <a:ln/>
        </p:spPr>
        <p:txBody>
          <a:bodyPr wrap="square" lIns="0" tIns="0" rIns="0" bIns="0" rtlCol="0" anchor="ctr"/>
          <a:lstStyle/>
          <a:p>
            <a:pPr indent="0" marL="0">
              <a:buNone/>
            </a:pPr>
            <a:r>
              <a:rPr lang="en-US" sz="1800" b="1" dirty="0">
                <a:solidFill>
                  <a:schemeClr val="accent3"/>
                </a:solidFill>
              </a:rPr>
              <a:t>DEF-07  </a:t>
            </a:r>
            <a:pPr indent="0" marL="0">
              <a:buNone/>
            </a:pPr>
            <a:r>
              <a:rPr lang="en-US" sz="1800" b="1" dirty="0">
                <a:solidFill>
                  <a:schemeClr val="tx2"/>
                </a:solidFill>
              </a:rPr>
              <a:t>Data in redirects</a:t>
            </a:r>
            <a:endParaRPr lang="en-US" sz="1800" dirty="0"/>
          </a:p>
        </p:txBody>
      </p:sp>
      <p:sp>
        <p:nvSpPr>
          <p:cNvPr id="15" name="Shape 11"/>
          <p:cNvSpPr/>
          <p:nvPr/>
        </p:nvSpPr>
        <p:spPr>
          <a:xfrm>
            <a:off x="10317175" y="1682496"/>
            <a:ext cx="1097280" cy="292608"/>
          </a:xfrm>
          <a:prstGeom prst="roundRect">
            <a:avLst>
              <a:gd name="adj" fmla="val 50000"/>
            </a:avLst>
          </a:prstGeom>
          <a:solidFill>
            <a:schemeClr val="accent3"/>
          </a:solidFill>
          <a:ln/>
        </p:spPr>
      </p:sp>
      <p:sp>
        <p:nvSpPr>
          <p:cNvPr id="16" name="Text 12"/>
          <p:cNvSpPr txBox="1"/>
          <p:nvPr/>
        </p:nvSpPr>
        <p:spPr>
          <a:xfrm>
            <a:off x="10317175" y="1682496"/>
            <a:ext cx="1097280" cy="292608"/>
          </a:xfrm>
          <a:prstGeom prst="rect">
            <a:avLst/>
          </a:prstGeom>
          <a:noFill/>
          <a:ln/>
        </p:spPr>
        <p:txBody>
          <a:bodyPr wrap="square" lIns="0" tIns="0" rIns="0" bIns="0" rtlCol="0" anchor="ctr"/>
          <a:lstStyle/>
          <a:p>
            <a:pPr algn="ctr" indent="0" marL="0">
              <a:buNone/>
            </a:pPr>
            <a:r>
              <a:rPr lang="en-US" sz="1200" b="1" dirty="0">
                <a:solidFill>
                  <a:schemeClr val="bg1"/>
                </a:solidFill>
              </a:rPr>
              <a:t>Critical</a:t>
            </a:r>
            <a:endParaRPr lang="en-US" sz="1200" dirty="0"/>
          </a:p>
        </p:txBody>
      </p:sp>
      <p:sp>
        <p:nvSpPr>
          <p:cNvPr id="17" name="Text 13"/>
          <p:cNvSpPr txBox="1"/>
          <p:nvPr/>
        </p:nvSpPr>
        <p:spPr>
          <a:xfrm>
            <a:off x="6507328" y="2240280"/>
            <a:ext cx="4861408" cy="548640"/>
          </a:xfrm>
          <a:prstGeom prst="rect">
            <a:avLst/>
          </a:prstGeom>
          <a:noFill/>
          <a:ln/>
        </p:spPr>
        <p:txBody>
          <a:bodyPr wrap="square" lIns="0" tIns="0" rIns="0" bIns="0" rtlCol="0" anchor="t"/>
          <a:lstStyle/>
          <a:p>
            <a:pPr indent="0" marL="0">
              <a:buNone/>
            </a:pPr>
            <a:r>
              <a:rPr lang="en-US" sz="1400" dirty="0">
                <a:solidFill>
                  <a:schemeClr val="tx1"/>
                </a:solidFill>
              </a:rPr>
              <a:t>A blocked page still sent every student's details in the redirect response.</a:t>
            </a:r>
            <a:endParaRPr lang="en-US" sz="1400" dirty="0"/>
          </a:p>
        </p:txBody>
      </p:sp>
      <p:sp>
        <p:nvSpPr>
          <p:cNvPr id="18" name="Text 14"/>
          <p:cNvSpPr txBox="1"/>
          <p:nvPr/>
        </p:nvSpPr>
        <p:spPr>
          <a:xfrm>
            <a:off x="6507328" y="2834640"/>
            <a:ext cx="4861408" cy="502920"/>
          </a:xfrm>
          <a:prstGeom prst="rect">
            <a:avLst/>
          </a:prstGeom>
          <a:noFill/>
          <a:ln/>
        </p:spPr>
        <p:txBody>
          <a:bodyPr wrap="square" lIns="0" tIns="0" rIns="0" bIns="0" rtlCol="0" anchor="t"/>
          <a:lstStyle/>
          <a:p>
            <a:pPr indent="0" marL="0">
              <a:buNone/>
            </a:pPr>
            <a:r>
              <a:rPr lang="en-US" sz="1400" b="1" dirty="0">
                <a:solidFill>
                  <a:schemeClr val="accent1"/>
                </a:solidFill>
              </a:rPr>
              <a:t>Fixed: </a:t>
            </a:r>
            <a:pPr indent="0" marL="0">
              <a:buNone/>
            </a:pPr>
            <a:r>
              <a:rPr lang="en-US" sz="1400" dirty="0">
                <a:solidFill>
                  <a:schemeClr val="tx1"/>
                </a:solidFill>
              </a:rPr>
              <a:t>Role checked on the server on every page  ·  </a:t>
            </a:r>
            <a:pPr indent="0" marL="0">
              <a:buNone/>
            </a:pPr>
            <a:r>
              <a:rPr lang="en-US" sz="1400" b="1" dirty="0">
                <a:solidFill>
                  <a:schemeClr val="tx1"/>
                </a:solidFill>
              </a:rPr>
              <a:t>TC-171 passes</a:t>
            </a:r>
            <a:endParaRPr lang="en-US" sz="1400" dirty="0"/>
          </a:p>
        </p:txBody>
      </p:sp>
      <p:sp>
        <p:nvSpPr>
          <p:cNvPr id="19" name="Shape 15"/>
          <p:cNvSpPr/>
          <p:nvPr/>
        </p:nvSpPr>
        <p:spPr>
          <a:xfrm>
            <a:off x="548640" y="3703320"/>
            <a:ext cx="5410048" cy="2148840"/>
          </a:xfrm>
          <a:prstGeom prst="roundRect">
            <a:avLst>
              <a:gd name="adj" fmla="val 4255"/>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0" name="Shape 16"/>
          <p:cNvSpPr/>
          <p:nvPr/>
        </p:nvSpPr>
        <p:spPr>
          <a:xfrm>
            <a:off x="777240" y="3931920"/>
            <a:ext cx="548640" cy="548640"/>
          </a:xfrm>
          <a:prstGeom prst="ellipse">
            <a:avLst/>
          </a:prstGeom>
          <a:solidFill>
            <a:schemeClr val="accent2"/>
          </a:solidFill>
          <a:ln/>
        </p:spPr>
      </p:sp>
      <p:pic>
        <p:nvPicPr>
          <p:cNvPr id="21" name="Image 2" descr="preencoded.png">    </p:cNvPr>
          <p:cNvPicPr>
            <a:picLocks noChangeAspect="1"/>
          </p:cNvPicPr>
          <p:nvPr/>
        </p:nvPicPr>
        <p:blipFill>
          <a:blip r:embed="rId3"/>
          <a:stretch>
            <a:fillRect/>
          </a:stretch>
        </p:blipFill>
        <p:spPr>
          <a:xfrm>
            <a:off x="914400" y="4069080"/>
            <a:ext cx="274320" cy="274320"/>
          </a:xfrm>
          <a:prstGeom prst="rect">
            <a:avLst/>
          </a:prstGeom>
        </p:spPr>
      </p:pic>
      <p:sp>
        <p:nvSpPr>
          <p:cNvPr id="22" name="Text 17"/>
          <p:cNvSpPr txBox="1"/>
          <p:nvPr/>
        </p:nvSpPr>
        <p:spPr>
          <a:xfrm>
            <a:off x="1508760" y="3931920"/>
            <a:ext cx="3032608" cy="548640"/>
          </a:xfrm>
          <a:prstGeom prst="rect">
            <a:avLst/>
          </a:prstGeom>
          <a:noFill/>
          <a:ln/>
        </p:spPr>
        <p:txBody>
          <a:bodyPr wrap="square" lIns="0" tIns="0" rIns="0" bIns="0" rtlCol="0" anchor="ctr"/>
          <a:lstStyle/>
          <a:p>
            <a:pPr indent="0" marL="0">
              <a:buNone/>
            </a:pPr>
            <a:r>
              <a:rPr lang="en-US" sz="1800" b="1" dirty="0">
                <a:solidFill>
                  <a:schemeClr val="accent2"/>
                </a:solidFill>
              </a:rPr>
              <a:t>DEF-02  </a:t>
            </a:r>
            <a:pPr indent="0" marL="0">
              <a:buNone/>
            </a:pPr>
            <a:r>
              <a:rPr lang="en-US" sz="1800" b="1" dirty="0">
                <a:solidFill>
                  <a:schemeClr val="tx2"/>
                </a:solidFill>
              </a:rPr>
              <a:t>Expired link stuck</a:t>
            </a:r>
            <a:endParaRPr lang="en-US" sz="1800" dirty="0"/>
          </a:p>
        </p:txBody>
      </p:sp>
      <p:sp>
        <p:nvSpPr>
          <p:cNvPr id="23" name="Text 18"/>
          <p:cNvSpPr txBox="1"/>
          <p:nvPr/>
        </p:nvSpPr>
        <p:spPr>
          <a:xfrm>
            <a:off x="822960" y="4617720"/>
            <a:ext cx="4861408" cy="548640"/>
          </a:xfrm>
          <a:prstGeom prst="rect">
            <a:avLst/>
          </a:prstGeom>
          <a:noFill/>
          <a:ln/>
        </p:spPr>
        <p:txBody>
          <a:bodyPr wrap="square" lIns="0" tIns="0" rIns="0" bIns="0" rtlCol="0" anchor="t"/>
          <a:lstStyle/>
          <a:p>
            <a:pPr indent="0" marL="0">
              <a:buNone/>
            </a:pPr>
            <a:r>
              <a:rPr lang="en-US" sz="1400" dirty="0">
                <a:solidFill>
                  <a:schemeClr val="tx1"/>
                </a:solidFill>
              </a:rPr>
              <a:t>An entry whose mentor link expired could never be resubmitted.</a:t>
            </a:r>
            <a:endParaRPr lang="en-US" sz="1400" dirty="0"/>
          </a:p>
        </p:txBody>
      </p:sp>
      <p:sp>
        <p:nvSpPr>
          <p:cNvPr id="24" name="Text 19"/>
          <p:cNvSpPr txBox="1"/>
          <p:nvPr/>
        </p:nvSpPr>
        <p:spPr>
          <a:xfrm>
            <a:off x="822960" y="5212080"/>
            <a:ext cx="4861408" cy="502920"/>
          </a:xfrm>
          <a:prstGeom prst="rect">
            <a:avLst/>
          </a:prstGeom>
          <a:noFill/>
          <a:ln/>
        </p:spPr>
        <p:txBody>
          <a:bodyPr wrap="square" lIns="0" tIns="0" rIns="0" bIns="0" rtlCol="0" anchor="t"/>
          <a:lstStyle/>
          <a:p>
            <a:pPr indent="0" marL="0">
              <a:buNone/>
            </a:pPr>
            <a:r>
              <a:rPr lang="en-US" sz="1400" b="1" dirty="0">
                <a:solidFill>
                  <a:schemeClr val="accent1"/>
                </a:solidFill>
              </a:rPr>
              <a:t>Fixed: </a:t>
            </a:r>
            <a:pPr indent="0" marL="0">
              <a:buNone/>
            </a:pPr>
            <a:r>
              <a:rPr lang="en-US" sz="1400" dirty="0">
                <a:solidFill>
                  <a:schemeClr val="tx1"/>
                </a:solidFill>
              </a:rPr>
              <a:t>The student can resubmit with a new link  ·  </a:t>
            </a:r>
            <a:pPr indent="0" marL="0">
              <a:buNone/>
            </a:pPr>
            <a:r>
              <a:rPr lang="en-US" sz="1400" b="1" dirty="0">
                <a:solidFill>
                  <a:schemeClr val="tx1"/>
                </a:solidFill>
              </a:rPr>
              <a:t>TC-137 passes</a:t>
            </a:r>
            <a:endParaRPr lang="en-US" sz="1400" dirty="0"/>
          </a:p>
        </p:txBody>
      </p:sp>
      <p:sp>
        <p:nvSpPr>
          <p:cNvPr id="25" name="Shape 20"/>
          <p:cNvSpPr/>
          <p:nvPr/>
        </p:nvSpPr>
        <p:spPr>
          <a:xfrm>
            <a:off x="6233008" y="3703320"/>
            <a:ext cx="5410048" cy="2148840"/>
          </a:xfrm>
          <a:prstGeom prst="roundRect">
            <a:avLst>
              <a:gd name="adj" fmla="val 4255"/>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6" name="Shape 21"/>
          <p:cNvSpPr/>
          <p:nvPr/>
        </p:nvSpPr>
        <p:spPr>
          <a:xfrm>
            <a:off x="6461608" y="3931920"/>
            <a:ext cx="548640" cy="548640"/>
          </a:xfrm>
          <a:prstGeom prst="ellipse">
            <a:avLst/>
          </a:prstGeom>
          <a:solidFill>
            <a:schemeClr val="accent2"/>
          </a:solidFill>
          <a:ln/>
        </p:spPr>
      </p:sp>
      <p:pic>
        <p:nvPicPr>
          <p:cNvPr id="27" name="Image 3" descr="preencoded.png">    </p:cNvPr>
          <p:cNvPicPr>
            <a:picLocks noChangeAspect="1"/>
          </p:cNvPicPr>
          <p:nvPr/>
        </p:nvPicPr>
        <p:blipFill>
          <a:blip r:embed="rId4"/>
          <a:stretch>
            <a:fillRect/>
          </a:stretch>
        </p:blipFill>
        <p:spPr>
          <a:xfrm>
            <a:off x="6598768" y="4069080"/>
            <a:ext cx="274320" cy="274320"/>
          </a:xfrm>
          <a:prstGeom prst="rect">
            <a:avLst/>
          </a:prstGeom>
        </p:spPr>
      </p:pic>
      <p:sp>
        <p:nvSpPr>
          <p:cNvPr id="28" name="Text 22"/>
          <p:cNvSpPr txBox="1"/>
          <p:nvPr/>
        </p:nvSpPr>
        <p:spPr>
          <a:xfrm>
            <a:off x="7193128" y="3931920"/>
            <a:ext cx="3032608" cy="548640"/>
          </a:xfrm>
          <a:prstGeom prst="rect">
            <a:avLst/>
          </a:prstGeom>
          <a:noFill/>
          <a:ln/>
        </p:spPr>
        <p:txBody>
          <a:bodyPr wrap="square" lIns="0" tIns="0" rIns="0" bIns="0" rtlCol="0" anchor="ctr"/>
          <a:lstStyle/>
          <a:p>
            <a:pPr indent="0" marL="0">
              <a:buNone/>
            </a:pPr>
            <a:r>
              <a:rPr lang="en-US" sz="1800" b="1" dirty="0">
                <a:solidFill>
                  <a:schemeClr val="accent2"/>
                </a:solidFill>
              </a:rPr>
              <a:t>DEF-03  </a:t>
            </a:r>
            <a:pPr indent="0" marL="0">
              <a:buNone/>
            </a:pPr>
            <a:r>
              <a:rPr lang="en-US" sz="1800" b="1" dirty="0">
                <a:solidFill>
                  <a:schemeClr val="tx2"/>
                </a:solidFill>
              </a:rPr>
              <a:t>Phone tables cut off</a:t>
            </a:r>
            <a:endParaRPr lang="en-US" sz="1800" dirty="0"/>
          </a:p>
        </p:txBody>
      </p:sp>
      <p:sp>
        <p:nvSpPr>
          <p:cNvPr id="29" name="Text 23"/>
          <p:cNvSpPr txBox="1"/>
          <p:nvPr/>
        </p:nvSpPr>
        <p:spPr>
          <a:xfrm>
            <a:off x="6507328" y="4617720"/>
            <a:ext cx="4861408" cy="548640"/>
          </a:xfrm>
          <a:prstGeom prst="rect">
            <a:avLst/>
          </a:prstGeom>
          <a:noFill/>
          <a:ln/>
        </p:spPr>
        <p:txBody>
          <a:bodyPr wrap="square" lIns="0" tIns="0" rIns="0" bIns="0" rtlCol="0" anchor="t"/>
          <a:lstStyle/>
          <a:p>
            <a:pPr indent="0" marL="0">
              <a:buNone/>
            </a:pPr>
            <a:r>
              <a:rPr lang="en-US" sz="1400" dirty="0">
                <a:solidFill>
                  <a:schemeClr val="tx1"/>
                </a:solidFill>
              </a:rPr>
              <a:t>At 375 pixels, tables widened the page and cut off columns.</a:t>
            </a:r>
            <a:endParaRPr lang="en-US" sz="1400" dirty="0"/>
          </a:p>
        </p:txBody>
      </p:sp>
      <p:sp>
        <p:nvSpPr>
          <p:cNvPr id="30" name="Text 24"/>
          <p:cNvSpPr txBox="1"/>
          <p:nvPr/>
        </p:nvSpPr>
        <p:spPr>
          <a:xfrm>
            <a:off x="6507328" y="5212080"/>
            <a:ext cx="4861408" cy="502920"/>
          </a:xfrm>
          <a:prstGeom prst="rect">
            <a:avLst/>
          </a:prstGeom>
          <a:noFill/>
          <a:ln/>
        </p:spPr>
        <p:txBody>
          <a:bodyPr wrap="square" lIns="0" tIns="0" rIns="0" bIns="0" rtlCol="0" anchor="t"/>
          <a:lstStyle/>
          <a:p>
            <a:pPr indent="0" marL="0">
              <a:buNone/>
            </a:pPr>
            <a:r>
              <a:rPr lang="en-US" sz="1400" b="1" dirty="0">
                <a:solidFill>
                  <a:schemeClr val="accent1"/>
                </a:solidFill>
              </a:rPr>
              <a:t>Fixed: </a:t>
            </a:r>
            <a:pPr indent="0" marL="0">
              <a:buNone/>
            </a:pPr>
            <a:r>
              <a:rPr lang="en-US" sz="1400" dirty="0">
                <a:solidFill>
                  <a:schemeClr val="tx1"/>
                </a:solidFill>
              </a:rPr>
              <a:t>Tables scroll inside their card  ·  </a:t>
            </a:r>
            <a:pPr indent="0" marL="0">
              <a:buNone/>
            </a:pPr>
            <a:r>
              <a:rPr lang="en-US" sz="1400" b="1" dirty="0">
                <a:solidFill>
                  <a:schemeClr val="tx1"/>
                </a:solidFill>
              </a:rPr>
              <a:t>TC-145 passes</a:t>
            </a:r>
            <a:endParaRPr lang="en-US" sz="1400" dirty="0"/>
          </a:p>
        </p:txBody>
      </p:sp>
      <p:sp>
        <p:nvSpPr>
          <p:cNvPr id="31" name="Text 25"/>
          <p:cNvSpPr txBox="1"/>
          <p:nvPr/>
        </p:nvSpPr>
        <p:spPr>
          <a:xfrm>
            <a:off x="548640" y="5989320"/>
            <a:ext cx="10972800" cy="320040"/>
          </a:xfrm>
          <a:prstGeom prst="rect">
            <a:avLst/>
          </a:prstGeom>
          <a:noFill/>
          <a:ln/>
        </p:spPr>
        <p:txBody>
          <a:bodyPr wrap="square" lIns="0" tIns="0" rIns="0" bIns="0" rtlCol="0" anchor="t"/>
          <a:lstStyle/>
          <a:p>
            <a:pPr indent="0" marL="0">
              <a:buNone/>
            </a:pPr>
            <a:r>
              <a:rPr lang="en-US" sz="1400" b="1" i="1" dirty="0">
                <a:solidFill>
                  <a:schemeClr val="tx2"/>
                </a:solidFill>
              </a:rPr>
              <a:t>Lesson: every functional test passed before DEF-01 was fixed, so security has to be tested on its own.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rPr>
              <a:t>Conclusion and future work</a:t>
            </a:r>
            <a:endParaRPr lang="en-US" sz="3400" dirty="0"/>
          </a:p>
        </p:txBody>
      </p:sp>
      <p:sp>
        <p:nvSpPr>
          <p:cNvPr id="3" name="Text 1"/>
          <p:cNvSpPr txBox="1"/>
          <p:nvPr/>
        </p:nvSpPr>
        <p:spPr>
          <a:xfrm>
            <a:off x="548640" y="1280160"/>
            <a:ext cx="2286000" cy="731520"/>
          </a:xfrm>
          <a:prstGeom prst="rect">
            <a:avLst/>
          </a:prstGeom>
          <a:noFill/>
          <a:ln/>
        </p:spPr>
        <p:txBody>
          <a:bodyPr wrap="square" lIns="0" tIns="0" rIns="0" bIns="0" rtlCol="0" anchor="t"/>
          <a:lstStyle/>
          <a:p>
            <a:pPr indent="0" marL="0">
              <a:buNone/>
            </a:pPr>
            <a:r>
              <a:rPr lang="en-US" sz="4000" b="1" dirty="0">
                <a:solidFill>
                  <a:schemeClr val="accent1"/>
                </a:solidFill>
              </a:rPr>
              <a:t>18 / 18</a:t>
            </a:r>
            <a:endParaRPr lang="en-US" sz="4000" dirty="0"/>
          </a:p>
        </p:txBody>
      </p:sp>
      <p:sp>
        <p:nvSpPr>
          <p:cNvPr id="4" name="Text 2"/>
          <p:cNvSpPr txBox="1"/>
          <p:nvPr/>
        </p:nvSpPr>
        <p:spPr>
          <a:xfrm>
            <a:off x="548640" y="2011680"/>
            <a:ext cx="2286000" cy="320040"/>
          </a:xfrm>
          <a:prstGeom prst="rect">
            <a:avLst/>
          </a:prstGeom>
          <a:noFill/>
          <a:ln/>
        </p:spPr>
        <p:txBody>
          <a:bodyPr wrap="square" lIns="0" tIns="0" rIns="0" bIns="0" rtlCol="0" anchor="t"/>
          <a:lstStyle/>
          <a:p>
            <a:pPr indent="0" marL="0">
              <a:buNone/>
            </a:pPr>
            <a:r>
              <a:rPr lang="en-US" sz="1400" b="1" dirty="0">
                <a:solidFill>
                  <a:schemeClr val="tx1"/>
                </a:solidFill>
              </a:rPr>
              <a:t>functional requirements met</a:t>
            </a:r>
            <a:endParaRPr lang="en-US" sz="1400" dirty="0"/>
          </a:p>
        </p:txBody>
      </p:sp>
      <p:sp>
        <p:nvSpPr>
          <p:cNvPr id="5" name="Text 3"/>
          <p:cNvSpPr txBox="1"/>
          <p:nvPr/>
        </p:nvSpPr>
        <p:spPr>
          <a:xfrm>
            <a:off x="2926080" y="1280160"/>
            <a:ext cx="2286000" cy="731520"/>
          </a:xfrm>
          <a:prstGeom prst="rect">
            <a:avLst/>
          </a:prstGeom>
          <a:noFill/>
          <a:ln/>
        </p:spPr>
        <p:txBody>
          <a:bodyPr wrap="square" lIns="0" tIns="0" rIns="0" bIns="0" rtlCol="0" anchor="t"/>
          <a:lstStyle/>
          <a:p>
            <a:pPr indent="0" marL="0">
              <a:buNone/>
            </a:pPr>
            <a:r>
              <a:rPr lang="en-US" sz="4000" b="1" dirty="0">
                <a:solidFill>
                  <a:schemeClr val="accent1"/>
                </a:solidFill>
              </a:rPr>
              <a:t>6 / 7</a:t>
            </a:r>
            <a:endParaRPr lang="en-US" sz="4000" dirty="0"/>
          </a:p>
        </p:txBody>
      </p:sp>
      <p:sp>
        <p:nvSpPr>
          <p:cNvPr id="6" name="Text 4"/>
          <p:cNvSpPr txBox="1"/>
          <p:nvPr/>
        </p:nvSpPr>
        <p:spPr>
          <a:xfrm>
            <a:off x="2926080" y="2011680"/>
            <a:ext cx="2286000" cy="320040"/>
          </a:xfrm>
          <a:prstGeom prst="rect">
            <a:avLst/>
          </a:prstGeom>
          <a:noFill/>
          <a:ln/>
        </p:spPr>
        <p:txBody>
          <a:bodyPr wrap="square" lIns="0" tIns="0" rIns="0" bIns="0" rtlCol="0" anchor="t"/>
          <a:lstStyle/>
          <a:p>
            <a:pPr indent="0" marL="0">
              <a:buNone/>
            </a:pPr>
            <a:r>
              <a:rPr lang="en-US" sz="1400" b="1" dirty="0">
                <a:solidFill>
                  <a:schemeClr val="tx1"/>
                </a:solidFill>
              </a:rPr>
              <a:t>non-functional met</a:t>
            </a:r>
            <a:endParaRPr lang="en-US" sz="1400" dirty="0"/>
          </a:p>
        </p:txBody>
      </p:sp>
      <p:pic>
        <p:nvPicPr>
          <p:cNvPr id="7" name="Image 0" descr="preencoded.png">    </p:cNvPr>
          <p:cNvPicPr>
            <a:picLocks noChangeAspect="1"/>
          </p:cNvPicPr>
          <p:nvPr/>
        </p:nvPicPr>
        <p:blipFill>
          <a:blip r:embed="rId1"/>
          <a:stretch>
            <a:fillRect/>
          </a:stretch>
        </p:blipFill>
        <p:spPr>
          <a:xfrm>
            <a:off x="548640" y="2651760"/>
            <a:ext cx="292608" cy="292608"/>
          </a:xfrm>
          <a:prstGeom prst="rect">
            <a:avLst/>
          </a:prstGeom>
        </p:spPr>
      </p:pic>
      <p:sp>
        <p:nvSpPr>
          <p:cNvPr id="8" name="Text 5"/>
          <p:cNvSpPr txBox="1"/>
          <p:nvPr/>
        </p:nvSpPr>
        <p:spPr>
          <a:xfrm>
            <a:off x="1005840" y="2606040"/>
            <a:ext cx="3840480" cy="384048"/>
          </a:xfrm>
          <a:prstGeom prst="rect">
            <a:avLst/>
          </a:prstGeom>
          <a:noFill/>
          <a:ln/>
        </p:spPr>
        <p:txBody>
          <a:bodyPr wrap="square" lIns="0" tIns="0" rIns="0" bIns="0" rtlCol="0" anchor="ctr"/>
          <a:lstStyle/>
          <a:p>
            <a:pPr indent="0" marL="0">
              <a:buNone/>
            </a:pPr>
            <a:r>
              <a:rPr lang="en-US" sz="1500" dirty="0">
                <a:solidFill>
                  <a:schemeClr val="tx1"/>
                </a:solidFill>
              </a:rPr>
              <a:t>1  Analyse the current process</a:t>
            </a:r>
            <a:endParaRPr lang="en-US" sz="1500" dirty="0"/>
          </a:p>
        </p:txBody>
      </p:sp>
      <p:pic>
        <p:nvPicPr>
          <p:cNvPr id="9" name="Image 1" descr="preencoded.png">    </p:cNvPr>
          <p:cNvPicPr>
            <a:picLocks noChangeAspect="1"/>
          </p:cNvPicPr>
          <p:nvPr/>
        </p:nvPicPr>
        <p:blipFill>
          <a:blip r:embed="rId2"/>
          <a:stretch>
            <a:fillRect/>
          </a:stretch>
        </p:blipFill>
        <p:spPr>
          <a:xfrm>
            <a:off x="548640" y="3154680"/>
            <a:ext cx="292608" cy="292608"/>
          </a:xfrm>
          <a:prstGeom prst="rect">
            <a:avLst/>
          </a:prstGeom>
        </p:spPr>
      </p:pic>
      <p:sp>
        <p:nvSpPr>
          <p:cNvPr id="10" name="Text 6"/>
          <p:cNvSpPr txBox="1"/>
          <p:nvPr/>
        </p:nvSpPr>
        <p:spPr>
          <a:xfrm>
            <a:off x="1005840" y="3108960"/>
            <a:ext cx="3840480" cy="384048"/>
          </a:xfrm>
          <a:prstGeom prst="rect">
            <a:avLst/>
          </a:prstGeom>
          <a:noFill/>
          <a:ln/>
        </p:spPr>
        <p:txBody>
          <a:bodyPr wrap="square" lIns="0" tIns="0" rIns="0" bIns="0" rtlCol="0" anchor="ctr"/>
          <a:lstStyle/>
          <a:p>
            <a:pPr indent="0" marL="0">
              <a:buNone/>
            </a:pPr>
            <a:r>
              <a:rPr lang="en-US" sz="1500" dirty="0">
                <a:solidFill>
                  <a:schemeClr val="tx1"/>
                </a:solidFill>
              </a:rPr>
              <a:t>2  Design account-free verification</a:t>
            </a:r>
            <a:endParaRPr lang="en-US" sz="1500" dirty="0"/>
          </a:p>
        </p:txBody>
      </p:sp>
      <p:pic>
        <p:nvPicPr>
          <p:cNvPr id="11" name="Image 2" descr="preencoded.png">    </p:cNvPr>
          <p:cNvPicPr>
            <a:picLocks noChangeAspect="1"/>
          </p:cNvPicPr>
          <p:nvPr/>
        </p:nvPicPr>
        <p:blipFill>
          <a:blip r:embed="rId3"/>
          <a:stretch>
            <a:fillRect/>
          </a:stretch>
        </p:blipFill>
        <p:spPr>
          <a:xfrm>
            <a:off x="548640" y="3657600"/>
            <a:ext cx="292608" cy="292608"/>
          </a:xfrm>
          <a:prstGeom prst="rect">
            <a:avLst/>
          </a:prstGeom>
        </p:spPr>
      </p:pic>
      <p:sp>
        <p:nvSpPr>
          <p:cNvPr id="12" name="Text 7"/>
          <p:cNvSpPr txBox="1"/>
          <p:nvPr/>
        </p:nvSpPr>
        <p:spPr>
          <a:xfrm>
            <a:off x="1005840" y="3611880"/>
            <a:ext cx="3840480" cy="384048"/>
          </a:xfrm>
          <a:prstGeom prst="rect">
            <a:avLst/>
          </a:prstGeom>
          <a:noFill/>
          <a:ln/>
        </p:spPr>
        <p:txBody>
          <a:bodyPr wrap="square" lIns="0" tIns="0" rIns="0" bIns="0" rtlCol="0" anchor="ctr"/>
          <a:lstStyle/>
          <a:p>
            <a:pPr indent="0" marL="0">
              <a:buNone/>
            </a:pPr>
            <a:r>
              <a:rPr lang="en-US" sz="1500" dirty="0">
                <a:solidFill>
                  <a:schemeClr val="tx1"/>
                </a:solidFill>
              </a:rPr>
              <a:t>3  Build logbook, mentor page, dashboard</a:t>
            </a:r>
            <a:endParaRPr lang="en-US" sz="1500" dirty="0"/>
          </a:p>
        </p:txBody>
      </p:sp>
      <p:pic>
        <p:nvPicPr>
          <p:cNvPr id="13" name="Image 3" descr="preencoded.png">    </p:cNvPr>
          <p:cNvPicPr>
            <a:picLocks noChangeAspect="1"/>
          </p:cNvPicPr>
          <p:nvPr/>
        </p:nvPicPr>
        <p:blipFill>
          <a:blip r:embed="rId4"/>
          <a:stretch>
            <a:fillRect/>
          </a:stretch>
        </p:blipFill>
        <p:spPr>
          <a:xfrm>
            <a:off x="548640" y="4160520"/>
            <a:ext cx="292608" cy="292608"/>
          </a:xfrm>
          <a:prstGeom prst="rect">
            <a:avLst/>
          </a:prstGeom>
        </p:spPr>
      </p:pic>
      <p:sp>
        <p:nvSpPr>
          <p:cNvPr id="14" name="Text 8"/>
          <p:cNvSpPr txBox="1"/>
          <p:nvPr/>
        </p:nvSpPr>
        <p:spPr>
          <a:xfrm>
            <a:off x="1005840" y="4114800"/>
            <a:ext cx="3840480" cy="384048"/>
          </a:xfrm>
          <a:prstGeom prst="rect">
            <a:avLst/>
          </a:prstGeom>
          <a:noFill/>
          <a:ln/>
        </p:spPr>
        <p:txBody>
          <a:bodyPr wrap="square" lIns="0" tIns="0" rIns="0" bIns="0" rtlCol="0" anchor="ctr"/>
          <a:lstStyle/>
          <a:p>
            <a:pPr indent="0" marL="0">
              <a:buNone/>
            </a:pPr>
            <a:r>
              <a:rPr lang="en-US" sz="1500" dirty="0">
                <a:solidFill>
                  <a:schemeClr val="tx1"/>
                </a:solidFill>
              </a:rPr>
              <a:t>4  Store entries with status and time</a:t>
            </a:r>
            <a:endParaRPr lang="en-US" sz="1500" dirty="0"/>
          </a:p>
        </p:txBody>
      </p:sp>
      <p:pic>
        <p:nvPicPr>
          <p:cNvPr id="15" name="Image 4" descr="preencoded.png">    </p:cNvPr>
          <p:cNvPicPr>
            <a:picLocks noChangeAspect="1"/>
          </p:cNvPicPr>
          <p:nvPr/>
        </p:nvPicPr>
        <p:blipFill>
          <a:blip r:embed="rId5"/>
          <a:stretch>
            <a:fillRect/>
          </a:stretch>
        </p:blipFill>
        <p:spPr>
          <a:xfrm>
            <a:off x="548640" y="4663440"/>
            <a:ext cx="292608" cy="292608"/>
          </a:xfrm>
          <a:prstGeom prst="rect">
            <a:avLst/>
          </a:prstGeom>
        </p:spPr>
      </p:pic>
      <p:sp>
        <p:nvSpPr>
          <p:cNvPr id="16" name="Text 9"/>
          <p:cNvSpPr txBox="1"/>
          <p:nvPr/>
        </p:nvSpPr>
        <p:spPr>
          <a:xfrm>
            <a:off x="1005840" y="4617720"/>
            <a:ext cx="3840480" cy="384048"/>
          </a:xfrm>
          <a:prstGeom prst="rect">
            <a:avLst/>
          </a:prstGeom>
          <a:noFill/>
          <a:ln/>
        </p:spPr>
        <p:txBody>
          <a:bodyPr wrap="square" lIns="0" tIns="0" rIns="0" bIns="0" rtlCol="0" anchor="ctr"/>
          <a:lstStyle/>
          <a:p>
            <a:pPr indent="0" marL="0">
              <a:buNone/>
            </a:pPr>
            <a:r>
              <a:rPr lang="en-US" sz="1500" dirty="0">
                <a:solidFill>
                  <a:schemeClr val="tx1"/>
                </a:solidFill>
              </a:rPr>
              <a:t>5  Test and evaluate</a:t>
            </a:r>
            <a:endParaRPr lang="en-US" sz="1500" dirty="0"/>
          </a:p>
        </p:txBody>
      </p:sp>
      <p:sp>
        <p:nvSpPr>
          <p:cNvPr id="17" name="Text 10"/>
          <p:cNvSpPr txBox="1"/>
          <p:nvPr/>
        </p:nvSpPr>
        <p:spPr>
          <a:xfrm>
            <a:off x="548640" y="5166360"/>
            <a:ext cx="4480560" cy="548640"/>
          </a:xfrm>
          <a:prstGeom prst="rect">
            <a:avLst/>
          </a:prstGeom>
          <a:noFill/>
          <a:ln/>
        </p:spPr>
        <p:txBody>
          <a:bodyPr wrap="square" lIns="0" tIns="0" rIns="0" bIns="0" rtlCol="0" anchor="t"/>
          <a:lstStyle/>
          <a:p>
            <a:pPr indent="0" marL="0">
              <a:buNone/>
            </a:pPr>
            <a:r>
              <a:rPr lang="en-US" sz="1300" dirty="0">
                <a:solidFill>
                  <a:schemeClr val="accent5"/>
                </a:solidFill>
              </a:rPr>
              <a:t>Objective 5 is largely achieved: usability with real users is still to be measured.</a:t>
            </a:r>
            <a:endParaRPr lang="en-US" sz="1300" dirty="0"/>
          </a:p>
        </p:txBody>
      </p:sp>
      <p:sp>
        <p:nvSpPr>
          <p:cNvPr id="18" name="Shape 11"/>
          <p:cNvSpPr/>
          <p:nvPr/>
        </p:nvSpPr>
        <p:spPr>
          <a:xfrm>
            <a:off x="5349240" y="1325880"/>
            <a:ext cx="3009748" cy="3657600"/>
          </a:xfrm>
          <a:prstGeom prst="roundRect">
            <a:avLst>
              <a:gd name="adj" fmla="val 3038"/>
            </a:avLst>
          </a:prstGeom>
          <a:solidFill>
            <a:schemeClr val="bg2"/>
          </a:solidFill>
          <a:ln w="12700">
            <a:solidFill>
              <a:schemeClr val="bg2"/>
            </a:solidFill>
            <a:prstDash val="solid"/>
          </a:ln>
        </p:spPr>
      </p:sp>
      <p:sp>
        <p:nvSpPr>
          <p:cNvPr id="19" name="Text 12"/>
          <p:cNvSpPr txBox="1"/>
          <p:nvPr/>
        </p:nvSpPr>
        <p:spPr>
          <a:xfrm>
            <a:off x="5623560" y="1508760"/>
            <a:ext cx="2461108" cy="365760"/>
          </a:xfrm>
          <a:prstGeom prst="rect">
            <a:avLst/>
          </a:prstGeom>
          <a:noFill/>
          <a:ln/>
        </p:spPr>
        <p:txBody>
          <a:bodyPr wrap="square" lIns="0" tIns="0" rIns="0" bIns="0" rtlCol="0" anchor="t"/>
          <a:lstStyle/>
          <a:p>
            <a:pPr indent="0" marL="0">
              <a:buNone/>
            </a:pPr>
            <a:r>
              <a:rPr lang="en-US" sz="1800" b="1" dirty="0">
                <a:solidFill>
                  <a:schemeClr val="tx2"/>
                </a:solidFill>
              </a:rPr>
              <a:t>Limitations</a:t>
            </a:r>
            <a:endParaRPr lang="en-US" sz="1800" dirty="0"/>
          </a:p>
        </p:txBody>
      </p:sp>
      <p:sp>
        <p:nvSpPr>
          <p:cNvPr id="20" name="Text 13"/>
          <p:cNvSpPr txBox="1"/>
          <p:nvPr/>
        </p:nvSpPr>
        <p:spPr>
          <a:xfrm>
            <a:off x="5623560" y="1965960"/>
            <a:ext cx="2461108" cy="3566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Synthetic data only, until campus permission is granted</a:t>
            </a:r>
            <a:endParaRPr lang="en-US" sz="1500" dirty="0"/>
          </a:p>
          <a:p>
            <a:pPr marL="342900" indent="-342900">
              <a:spcAft>
                <a:spcPts val="800"/>
              </a:spcAft>
              <a:buSzPct val="100000"/>
              <a:buChar char="•"/>
            </a:pPr>
            <a:r>
              <a:rPr lang="en-US" sz="1500" dirty="0">
                <a:solidFill>
                  <a:schemeClr val="tx1"/>
                </a:solidFill>
              </a:rPr>
              <a:t>Usability not yet measured with users</a:t>
            </a:r>
            <a:endParaRPr lang="en-US" sz="1500" dirty="0"/>
          </a:p>
          <a:p>
            <a:pPr marL="342900" indent="-342900">
              <a:spcAft>
                <a:spcPts val="800"/>
              </a:spcAft>
              <a:buSzPct val="100000"/>
              <a:buChar char="•"/>
            </a:pPr>
            <a:r>
              <a:rPr lang="en-US" sz="1500" dirty="0">
                <a:solidFill>
                  <a:schemeClr val="tx1"/>
                </a:solidFill>
              </a:rPr>
              <a:t>Response times measured locally, not on a hosted server</a:t>
            </a:r>
            <a:endParaRPr lang="en-US" sz="1500" dirty="0"/>
          </a:p>
        </p:txBody>
      </p:sp>
      <p:sp>
        <p:nvSpPr>
          <p:cNvPr id="21" name="Shape 14"/>
          <p:cNvSpPr/>
          <p:nvPr/>
        </p:nvSpPr>
        <p:spPr>
          <a:xfrm>
            <a:off x="8633308" y="1325880"/>
            <a:ext cx="3009748" cy="3657600"/>
          </a:xfrm>
          <a:prstGeom prst="roundRect">
            <a:avLst>
              <a:gd name="adj" fmla="val 3038"/>
            </a:avLst>
          </a:prstGeom>
          <a:solidFill>
            <a:schemeClr val="tx2"/>
          </a:solidFill>
          <a:ln w="12700">
            <a:solidFill>
              <a:schemeClr val="tx2"/>
            </a:solidFill>
            <a:prstDash val="solid"/>
          </a:ln>
        </p:spPr>
      </p:sp>
      <p:sp>
        <p:nvSpPr>
          <p:cNvPr id="22" name="Text 15"/>
          <p:cNvSpPr txBox="1"/>
          <p:nvPr/>
        </p:nvSpPr>
        <p:spPr>
          <a:xfrm>
            <a:off x="8907628" y="1508760"/>
            <a:ext cx="2461108" cy="365760"/>
          </a:xfrm>
          <a:prstGeom prst="rect">
            <a:avLst/>
          </a:prstGeom>
          <a:noFill/>
          <a:ln/>
        </p:spPr>
        <p:txBody>
          <a:bodyPr wrap="square" lIns="0" tIns="0" rIns="0" bIns="0" rtlCol="0" anchor="t"/>
          <a:lstStyle/>
          <a:p>
            <a:pPr indent="0" marL="0">
              <a:buNone/>
            </a:pPr>
            <a:r>
              <a:rPr lang="en-US" sz="1800" b="1" dirty="0">
                <a:solidFill>
                  <a:schemeClr val="bg1"/>
                </a:solidFill>
              </a:rPr>
              <a:t>Future work</a:t>
            </a:r>
            <a:endParaRPr lang="en-US" sz="1800" dirty="0"/>
          </a:p>
        </p:txBody>
      </p:sp>
      <p:sp>
        <p:nvSpPr>
          <p:cNvPr id="23" name="Text 16"/>
          <p:cNvSpPr txBox="1"/>
          <p:nvPr/>
        </p:nvSpPr>
        <p:spPr>
          <a:xfrm>
            <a:off x="8907628" y="1965960"/>
            <a:ext cx="2461108" cy="3566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Written mentor feedback</a:t>
            </a:r>
            <a:endParaRPr lang="en-US" sz="1500" dirty="0"/>
          </a:p>
          <a:p>
            <a:pPr marL="342900" indent="-342900">
              <a:spcAft>
                <a:spcPts val="800"/>
              </a:spcAft>
              <a:buSzPct val="100000"/>
              <a:buChar char="•"/>
            </a:pPr>
            <a:r>
              <a:rPr lang="en-US" sz="1500" dirty="0">
                <a:solidFill>
                  <a:schemeClr val="bg1"/>
                </a:solidFill>
              </a:rPr>
              <a:t>Coordinator review of documents</a:t>
            </a:r>
            <a:endParaRPr lang="en-US" sz="1500" dirty="0"/>
          </a:p>
          <a:p>
            <a:pPr marL="342900" indent="-342900">
              <a:spcAft>
                <a:spcPts val="800"/>
              </a:spcAft>
              <a:buSzPct val="100000"/>
              <a:buChar char="•"/>
            </a:pPr>
            <a:r>
              <a:rPr lang="en-US" sz="1500" dirty="0">
                <a:solidFill>
                  <a:schemeClr val="bg1"/>
                </a:solidFill>
              </a:rPr>
              <a:t>Email notifications</a:t>
            </a:r>
            <a:endParaRPr lang="en-US" sz="1500" dirty="0"/>
          </a:p>
          <a:p>
            <a:pPr marL="342900" indent="-342900">
              <a:spcAft>
                <a:spcPts val="800"/>
              </a:spcAft>
              <a:buSzPct val="100000"/>
              <a:buChar char="•"/>
            </a:pPr>
            <a:r>
              <a:rPr lang="en-US" sz="1500" dirty="0">
                <a:solidFill>
                  <a:schemeClr val="bg1"/>
                </a:solidFill>
              </a:rPr>
              <a:t>Mentor access to evidence</a:t>
            </a:r>
            <a:endParaRPr lang="en-US" sz="1500" dirty="0"/>
          </a:p>
          <a:p>
            <a:pPr marL="342900" indent="-342900">
              <a:spcAft>
                <a:spcPts val="800"/>
              </a:spcAft>
              <a:buSzPct val="100000"/>
              <a:buChar char="•"/>
            </a:pPr>
            <a:r>
              <a:rPr lang="en-US" sz="1500" dirty="0">
                <a:solidFill>
                  <a:schemeClr val="bg1"/>
                </a:solidFill>
              </a:rPr>
              <a:t>Hosted deployment with HTTPS</a:t>
            </a:r>
            <a:endParaRPr lang="en-US" sz="1500" dirty="0"/>
          </a:p>
        </p:txBody>
      </p:sp>
      <p:sp>
        <p:nvSpPr>
          <p:cNvPr id="24" name="Text 17"/>
          <p:cNvSpPr txBox="1"/>
          <p:nvPr/>
        </p:nvSpPr>
        <p:spPr>
          <a:xfrm>
            <a:off x="548640" y="5943600"/>
            <a:ext cx="10972800" cy="365760"/>
          </a:xfrm>
          <a:prstGeom prst="rect">
            <a:avLst/>
          </a:prstGeom>
          <a:noFill/>
          <a:ln/>
        </p:spPr>
        <p:txBody>
          <a:bodyPr wrap="square" lIns="0" tIns="0" rIns="0" bIns="0" rtlCol="0" anchor="t"/>
          <a:lstStyle/>
          <a:p>
            <a:pPr indent="0" marL="0">
              <a:buNone/>
            </a:pPr>
            <a:r>
              <a:rPr lang="en-US" sz="1500" b="1" dirty="0">
                <a:solidFill>
                  <a:schemeClr val="accent1"/>
                </a:solidFill>
              </a:rPr>
              <a:t>Main contribution: </a:t>
            </a:r>
            <a:pPr indent="0" marL="0">
              <a:buNone/>
            </a:pPr>
            <a:r>
              <a:rPr lang="en-US" sz="1500" dirty="0">
                <a:solidFill>
                  <a:schemeClr val="tx2"/>
                </a:solidFill>
              </a:rPr>
              <a:t>account-free mentor verification combined with automatic progress monitoring.</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2"/>
                </a:solidFill>
              </a:rPr>
              <a:t>Team and Git evidence</a:t>
            </a:r>
            <a:endParaRPr lang="en-US" sz="3400" dirty="0"/>
          </a:p>
        </p:txBody>
      </p:sp>
      <p:sp>
        <p:nvSpPr>
          <p:cNvPr id="3" name="Shape 1"/>
          <p:cNvSpPr/>
          <p:nvPr/>
        </p:nvSpPr>
        <p:spPr>
          <a:xfrm>
            <a:off x="548640" y="1325880"/>
            <a:ext cx="2602154" cy="4023360"/>
          </a:xfrm>
          <a:prstGeom prst="roundRect">
            <a:avLst>
              <a:gd name="adj" fmla="val 3514"/>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777240" y="1554480"/>
            <a:ext cx="2144954" cy="685800"/>
          </a:xfrm>
          <a:prstGeom prst="rect">
            <a:avLst/>
          </a:prstGeom>
          <a:noFill/>
          <a:ln/>
        </p:spPr>
        <p:txBody>
          <a:bodyPr wrap="square" lIns="0" tIns="0" rIns="0" bIns="0" rtlCol="0" anchor="b"/>
          <a:lstStyle/>
          <a:p>
            <a:pPr indent="0" marL="0">
              <a:buNone/>
            </a:pPr>
            <a:r>
              <a:rPr lang="en-US" sz="1800" b="1" dirty="0">
                <a:solidFill>
                  <a:schemeClr val="tx2"/>
                </a:solidFill>
              </a:rPr>
              <a:t>Willem (Gedion) Basson</a:t>
            </a:r>
            <a:endParaRPr lang="en-US" sz="1800" dirty="0"/>
          </a:p>
        </p:txBody>
      </p:sp>
      <p:sp>
        <p:nvSpPr>
          <p:cNvPr id="5" name="Text 3"/>
          <p:cNvSpPr txBox="1"/>
          <p:nvPr/>
        </p:nvSpPr>
        <p:spPr>
          <a:xfrm>
            <a:off x="777240" y="2286000"/>
            <a:ext cx="2144954"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GROUP LEAD</a:t>
            </a:r>
            <a:endParaRPr lang="en-US" sz="1200" dirty="0"/>
          </a:p>
        </p:txBody>
      </p:sp>
      <p:sp>
        <p:nvSpPr>
          <p:cNvPr id="6" name="Text 4"/>
          <p:cNvSpPr txBox="1"/>
          <p:nvPr/>
        </p:nvSpPr>
        <p:spPr>
          <a:xfrm>
            <a:off x="777240" y="2697480"/>
            <a:ext cx="2144954"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Proposal, SRS and document revisions</a:t>
            </a:r>
            <a:endParaRPr lang="en-US" sz="1400" dirty="0"/>
          </a:p>
          <a:p>
            <a:pPr marL="342900" indent="-342900">
              <a:spcAft>
                <a:spcPts val="600"/>
              </a:spcAft>
              <a:buSzPct val="100000"/>
              <a:buChar char="•"/>
            </a:pPr>
            <a:r>
              <a:rPr lang="en-US" sz="1400" dirty="0">
                <a:solidFill>
                  <a:schemeClr val="tx1"/>
                </a:solidFill>
              </a:rPr>
              <a:t>SQLite database, placements and documents</a:t>
            </a:r>
            <a:endParaRPr lang="en-US" sz="1400" dirty="0"/>
          </a:p>
          <a:p>
            <a:pPr marL="342900" indent="-342900">
              <a:spcAft>
                <a:spcPts val="600"/>
              </a:spcAft>
              <a:buSzPct val="100000"/>
              <a:buChar char="•"/>
            </a:pPr>
            <a:r>
              <a:rPr lang="en-US" sz="1400" dirty="0">
                <a:solidFill>
                  <a:schemeClr val="tx1"/>
                </a:solidFill>
              </a:rPr>
              <a:t>Security fixes and automated tests</a:t>
            </a:r>
            <a:endParaRPr lang="en-US" sz="1400" dirty="0"/>
          </a:p>
        </p:txBody>
      </p:sp>
      <p:pic>
        <p:nvPicPr>
          <p:cNvPr id="7" name="Image 0" descr="preencoded.png">    </p:cNvPr>
          <p:cNvPicPr>
            <a:picLocks noChangeAspect="1"/>
          </p:cNvPicPr>
          <p:nvPr/>
        </p:nvPicPr>
        <p:blipFill>
          <a:blip r:embed="rId1"/>
          <a:stretch>
            <a:fillRect/>
          </a:stretch>
        </p:blipFill>
        <p:spPr>
          <a:xfrm>
            <a:off x="777240" y="4846320"/>
            <a:ext cx="274320" cy="274320"/>
          </a:xfrm>
          <a:prstGeom prst="rect">
            <a:avLst/>
          </a:prstGeom>
        </p:spPr>
      </p:pic>
      <p:sp>
        <p:nvSpPr>
          <p:cNvPr id="8" name="Text 5"/>
          <p:cNvSpPr txBox="1"/>
          <p:nvPr/>
        </p:nvSpPr>
        <p:spPr>
          <a:xfrm>
            <a:off x="1143000" y="4846320"/>
            <a:ext cx="1779194" cy="274320"/>
          </a:xfrm>
          <a:prstGeom prst="rect">
            <a:avLst/>
          </a:prstGeom>
          <a:noFill/>
          <a:ln/>
        </p:spPr>
        <p:txBody>
          <a:bodyPr wrap="square" lIns="0" tIns="0" rIns="0" bIns="0" rtlCol="0" anchor="ctr"/>
          <a:lstStyle/>
          <a:p>
            <a:pPr indent="0" marL="0">
              <a:buNone/>
            </a:pPr>
            <a:r>
              <a:rPr lang="en-US" sz="1300" dirty="0">
                <a:solidFill>
                  <a:schemeClr val="accent5"/>
                </a:solidFill>
                <a:latin typeface="Consolas" pitchFamily="34" charset="0"/>
                <a:ea typeface="Consolas" pitchFamily="34" charset="-122"/>
                <a:cs typeface="Consolas" pitchFamily="34" charset="-120"/>
              </a:rPr>
              <a:t>Cyber-4</a:t>
            </a:r>
            <a:endParaRPr lang="en-US" sz="1300" dirty="0"/>
          </a:p>
        </p:txBody>
      </p:sp>
      <p:sp>
        <p:nvSpPr>
          <p:cNvPr id="9" name="Shape 6"/>
          <p:cNvSpPr/>
          <p:nvPr/>
        </p:nvSpPr>
        <p:spPr>
          <a:xfrm>
            <a:off x="3379394" y="1325880"/>
            <a:ext cx="2602154" cy="4023360"/>
          </a:xfrm>
          <a:prstGeom prst="roundRect">
            <a:avLst>
              <a:gd name="adj" fmla="val 3514"/>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0" name="Text 7"/>
          <p:cNvSpPr txBox="1"/>
          <p:nvPr/>
        </p:nvSpPr>
        <p:spPr>
          <a:xfrm>
            <a:off x="3607994" y="1554480"/>
            <a:ext cx="2144954" cy="685800"/>
          </a:xfrm>
          <a:prstGeom prst="rect">
            <a:avLst/>
          </a:prstGeom>
          <a:noFill/>
          <a:ln/>
        </p:spPr>
        <p:txBody>
          <a:bodyPr wrap="square" lIns="0" tIns="0" rIns="0" bIns="0" rtlCol="0" anchor="b"/>
          <a:lstStyle/>
          <a:p>
            <a:pPr indent="0" marL="0">
              <a:buNone/>
            </a:pPr>
            <a:r>
              <a:rPr lang="en-US" sz="1800" b="1" dirty="0">
                <a:solidFill>
                  <a:schemeClr val="tx2"/>
                </a:solidFill>
              </a:rPr>
              <a:t>Moegammad Green</a:t>
            </a:r>
            <a:endParaRPr lang="en-US" sz="1800" dirty="0"/>
          </a:p>
        </p:txBody>
      </p:sp>
      <p:sp>
        <p:nvSpPr>
          <p:cNvPr id="11" name="Text 8"/>
          <p:cNvSpPr txBox="1"/>
          <p:nvPr/>
        </p:nvSpPr>
        <p:spPr>
          <a:xfrm>
            <a:off x="3607994" y="2286000"/>
            <a:ext cx="2144954"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DEVELOPMENT LEAD</a:t>
            </a:r>
            <a:endParaRPr lang="en-US" sz="1200" dirty="0"/>
          </a:p>
        </p:txBody>
      </p:sp>
      <p:sp>
        <p:nvSpPr>
          <p:cNvPr id="12" name="Text 9"/>
          <p:cNvSpPr txBox="1"/>
          <p:nvPr/>
        </p:nvSpPr>
        <p:spPr>
          <a:xfrm>
            <a:off x="3607994" y="2697480"/>
            <a:ext cx="2144954"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Repository set-up</a:t>
            </a:r>
            <a:endParaRPr lang="en-US" sz="1400" dirty="0"/>
          </a:p>
          <a:p>
            <a:pPr marL="342900" indent="-342900">
              <a:spcAft>
                <a:spcPts val="600"/>
              </a:spcAft>
              <a:buSzPct val="100000"/>
              <a:buChar char="•"/>
            </a:pPr>
            <a:r>
              <a:rPr lang="en-US" sz="1400" dirty="0">
                <a:solidFill>
                  <a:schemeClr val="tx1"/>
                </a:solidFill>
              </a:rPr>
              <a:t>Next.js app: sign-in, logbook, verification, dashboard</a:t>
            </a:r>
            <a:endParaRPr lang="en-US" sz="1400" dirty="0"/>
          </a:p>
          <a:p>
            <a:pPr marL="342900" indent="-342900">
              <a:spcAft>
                <a:spcPts val="600"/>
              </a:spcAft>
              <a:buSzPct val="100000"/>
              <a:buChar char="•"/>
            </a:pPr>
            <a:r>
              <a:rPr lang="en-US" sz="1400" dirty="0">
                <a:solidFill>
                  <a:schemeClr val="tx1"/>
                </a:solidFill>
              </a:rPr>
              <a:t>System design diagrams</a:t>
            </a:r>
            <a:endParaRPr lang="en-US" sz="1400" dirty="0"/>
          </a:p>
        </p:txBody>
      </p:sp>
      <p:pic>
        <p:nvPicPr>
          <p:cNvPr id="13" name="Image 1" descr="preencoded.png">    </p:cNvPr>
          <p:cNvPicPr>
            <a:picLocks noChangeAspect="1"/>
          </p:cNvPicPr>
          <p:nvPr/>
        </p:nvPicPr>
        <p:blipFill>
          <a:blip r:embed="rId2"/>
          <a:stretch>
            <a:fillRect/>
          </a:stretch>
        </p:blipFill>
        <p:spPr>
          <a:xfrm>
            <a:off x="3607994" y="4846320"/>
            <a:ext cx="274320" cy="274320"/>
          </a:xfrm>
          <a:prstGeom prst="rect">
            <a:avLst/>
          </a:prstGeom>
        </p:spPr>
      </p:pic>
      <p:sp>
        <p:nvSpPr>
          <p:cNvPr id="14" name="Text 10"/>
          <p:cNvSpPr txBox="1"/>
          <p:nvPr/>
        </p:nvSpPr>
        <p:spPr>
          <a:xfrm>
            <a:off x="3973754" y="4846320"/>
            <a:ext cx="1779194" cy="274320"/>
          </a:xfrm>
          <a:prstGeom prst="rect">
            <a:avLst/>
          </a:prstGeom>
          <a:noFill/>
          <a:ln/>
        </p:spPr>
        <p:txBody>
          <a:bodyPr wrap="square" lIns="0" tIns="0" rIns="0" bIns="0" rtlCol="0" anchor="ctr"/>
          <a:lstStyle/>
          <a:p>
            <a:pPr indent="0" marL="0">
              <a:buNone/>
            </a:pPr>
            <a:r>
              <a:rPr lang="en-US" sz="1300" dirty="0">
                <a:solidFill>
                  <a:schemeClr val="accent5"/>
                </a:solidFill>
                <a:latin typeface="Consolas" pitchFamily="34" charset="0"/>
                <a:ea typeface="Consolas" pitchFamily="34" charset="-122"/>
                <a:cs typeface="Consolas" pitchFamily="34" charset="-120"/>
              </a:rPr>
              <a:t>Noobey32</a:t>
            </a:r>
            <a:endParaRPr lang="en-US" sz="1300" dirty="0"/>
          </a:p>
        </p:txBody>
      </p:sp>
      <p:sp>
        <p:nvSpPr>
          <p:cNvPr id="15" name="Shape 11"/>
          <p:cNvSpPr/>
          <p:nvPr/>
        </p:nvSpPr>
        <p:spPr>
          <a:xfrm>
            <a:off x="6210148" y="1325880"/>
            <a:ext cx="2602154" cy="4023360"/>
          </a:xfrm>
          <a:prstGeom prst="roundRect">
            <a:avLst>
              <a:gd name="adj" fmla="val 3514"/>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6" name="Text 12"/>
          <p:cNvSpPr txBox="1"/>
          <p:nvPr/>
        </p:nvSpPr>
        <p:spPr>
          <a:xfrm>
            <a:off x="6438748" y="1554480"/>
            <a:ext cx="2144954" cy="685800"/>
          </a:xfrm>
          <a:prstGeom prst="rect">
            <a:avLst/>
          </a:prstGeom>
          <a:noFill/>
          <a:ln/>
        </p:spPr>
        <p:txBody>
          <a:bodyPr wrap="square" lIns="0" tIns="0" rIns="0" bIns="0" rtlCol="0" anchor="b"/>
          <a:lstStyle/>
          <a:p>
            <a:pPr indent="0" marL="0">
              <a:buNone/>
            </a:pPr>
            <a:r>
              <a:rPr lang="en-US" sz="1800" b="1" dirty="0">
                <a:solidFill>
                  <a:schemeClr val="tx2"/>
                </a:solidFill>
              </a:rPr>
              <a:t>Dylan Shepard</a:t>
            </a:r>
            <a:endParaRPr lang="en-US" sz="1800" dirty="0"/>
          </a:p>
        </p:txBody>
      </p:sp>
      <p:sp>
        <p:nvSpPr>
          <p:cNvPr id="17" name="Text 13"/>
          <p:cNvSpPr txBox="1"/>
          <p:nvPr/>
        </p:nvSpPr>
        <p:spPr>
          <a:xfrm>
            <a:off x="6438748" y="2286000"/>
            <a:ext cx="2144954"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TESTING AND QA</a:t>
            </a:r>
            <a:endParaRPr lang="en-US" sz="1200" dirty="0"/>
          </a:p>
        </p:txBody>
      </p:sp>
      <p:sp>
        <p:nvSpPr>
          <p:cNvPr id="18" name="Text 14"/>
          <p:cNvSpPr txBox="1"/>
          <p:nvPr/>
        </p:nvSpPr>
        <p:spPr>
          <a:xfrm>
            <a:off x="6438748" y="2697480"/>
            <a:ext cx="2144954"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Literature review and references</a:t>
            </a:r>
            <a:endParaRPr lang="en-US" sz="1400" dirty="0"/>
          </a:p>
          <a:p>
            <a:pPr marL="342900" indent="-342900">
              <a:spcAft>
                <a:spcPts val="600"/>
              </a:spcAft>
              <a:buSzPct val="100000"/>
              <a:buChar char="•"/>
            </a:pPr>
            <a:r>
              <a:rPr lang="en-US" sz="1400" dirty="0">
                <a:solidFill>
                  <a:schemeClr val="tx1"/>
                </a:solidFill>
              </a:rPr>
              <a:t>Test lead in the Test Plan</a:t>
            </a:r>
            <a:endParaRPr lang="en-US" sz="1400" dirty="0"/>
          </a:p>
          <a:p>
            <a:pPr marL="342900" indent="-342900">
              <a:spcAft>
                <a:spcPts val="600"/>
              </a:spcAft>
              <a:buSzPct val="100000"/>
              <a:buChar char="•"/>
            </a:pPr>
            <a:r>
              <a:rPr lang="en-US" sz="1400" dirty="0">
                <a:solidFill>
                  <a:schemeClr val="tx1"/>
                </a:solidFill>
              </a:rPr>
              <a:t>Document reviews and formatting</a:t>
            </a:r>
            <a:endParaRPr lang="en-US" sz="1400" dirty="0"/>
          </a:p>
        </p:txBody>
      </p:sp>
      <p:pic>
        <p:nvPicPr>
          <p:cNvPr id="19" name="Image 2" descr="preencoded.png">    </p:cNvPr>
          <p:cNvPicPr>
            <a:picLocks noChangeAspect="1"/>
          </p:cNvPicPr>
          <p:nvPr/>
        </p:nvPicPr>
        <p:blipFill>
          <a:blip r:embed="rId3"/>
          <a:stretch>
            <a:fillRect/>
          </a:stretch>
        </p:blipFill>
        <p:spPr>
          <a:xfrm>
            <a:off x="6438748" y="4846320"/>
            <a:ext cx="274320" cy="274320"/>
          </a:xfrm>
          <a:prstGeom prst="rect">
            <a:avLst/>
          </a:prstGeom>
        </p:spPr>
      </p:pic>
      <p:sp>
        <p:nvSpPr>
          <p:cNvPr id="20" name="Text 15"/>
          <p:cNvSpPr txBox="1"/>
          <p:nvPr/>
        </p:nvSpPr>
        <p:spPr>
          <a:xfrm>
            <a:off x="6804508" y="4846320"/>
            <a:ext cx="1779194" cy="274320"/>
          </a:xfrm>
          <a:prstGeom prst="rect">
            <a:avLst/>
          </a:prstGeom>
          <a:noFill/>
          <a:ln/>
        </p:spPr>
        <p:txBody>
          <a:bodyPr wrap="square" lIns="0" tIns="0" rIns="0" bIns="0" rtlCol="0" anchor="ctr"/>
          <a:lstStyle/>
          <a:p>
            <a:pPr indent="0" marL="0">
              <a:buNone/>
            </a:pPr>
            <a:r>
              <a:rPr lang="en-US" sz="1300" dirty="0">
                <a:solidFill>
                  <a:schemeClr val="accent5"/>
                </a:solidFill>
                <a:latin typeface="Consolas" pitchFamily="34" charset="0"/>
                <a:ea typeface="Consolas" pitchFamily="34" charset="-122"/>
                <a:cs typeface="Consolas" pitchFamily="34" charset="-120"/>
              </a:rPr>
              <a:t>FyreGH</a:t>
            </a:r>
            <a:endParaRPr lang="en-US" sz="1300" dirty="0"/>
          </a:p>
        </p:txBody>
      </p:sp>
      <p:sp>
        <p:nvSpPr>
          <p:cNvPr id="21" name="Shape 16"/>
          <p:cNvSpPr/>
          <p:nvPr/>
        </p:nvSpPr>
        <p:spPr>
          <a:xfrm>
            <a:off x="9040901" y="1325880"/>
            <a:ext cx="2602154" cy="4023360"/>
          </a:xfrm>
          <a:prstGeom prst="roundRect">
            <a:avLst>
              <a:gd name="adj" fmla="val 3514"/>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2" name="Text 17"/>
          <p:cNvSpPr txBox="1"/>
          <p:nvPr/>
        </p:nvSpPr>
        <p:spPr>
          <a:xfrm>
            <a:off x="9269501" y="1554480"/>
            <a:ext cx="2144954" cy="685800"/>
          </a:xfrm>
          <a:prstGeom prst="rect">
            <a:avLst/>
          </a:prstGeom>
          <a:noFill/>
          <a:ln/>
        </p:spPr>
        <p:txBody>
          <a:bodyPr wrap="square" lIns="0" tIns="0" rIns="0" bIns="0" rtlCol="0" anchor="b"/>
          <a:lstStyle/>
          <a:p>
            <a:pPr indent="0" marL="0">
              <a:buNone/>
            </a:pPr>
            <a:r>
              <a:rPr lang="en-US" sz="1800" b="1" dirty="0">
                <a:solidFill>
                  <a:schemeClr val="tx2"/>
                </a:solidFill>
              </a:rPr>
              <a:t>Sihle Kayise</a:t>
            </a:r>
            <a:endParaRPr lang="en-US" sz="1800" dirty="0"/>
          </a:p>
        </p:txBody>
      </p:sp>
      <p:sp>
        <p:nvSpPr>
          <p:cNvPr id="23" name="Text 18"/>
          <p:cNvSpPr txBox="1"/>
          <p:nvPr/>
        </p:nvSpPr>
        <p:spPr>
          <a:xfrm>
            <a:off x="9269501" y="2286000"/>
            <a:ext cx="2144954"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GROUP MEMBER</a:t>
            </a:r>
            <a:endParaRPr lang="en-US" sz="1200" dirty="0"/>
          </a:p>
        </p:txBody>
      </p:sp>
      <p:sp>
        <p:nvSpPr>
          <p:cNvPr id="24" name="Text 19"/>
          <p:cNvSpPr txBox="1"/>
          <p:nvPr/>
        </p:nvSpPr>
        <p:spPr>
          <a:xfrm>
            <a:off x="9269501" y="2697480"/>
            <a:ext cx="2144954"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Chapter 1 and 3 drafts</a:t>
            </a:r>
            <a:endParaRPr lang="en-US" sz="1400" dirty="0"/>
          </a:p>
          <a:p>
            <a:pPr marL="342900" indent="-342900">
              <a:spcAft>
                <a:spcPts val="600"/>
              </a:spcAft>
              <a:buSzPct val="100000"/>
              <a:buChar char="•"/>
            </a:pPr>
            <a:r>
              <a:rPr lang="en-US" sz="1400" dirty="0">
                <a:solidFill>
                  <a:schemeClr val="tx1"/>
                </a:solidFill>
              </a:rPr>
              <a:t>First Test Plan and Chapter 5 draft</a:t>
            </a:r>
            <a:endParaRPr lang="en-US" sz="1400" dirty="0"/>
          </a:p>
          <a:p>
            <a:pPr marL="342900" indent="-342900">
              <a:spcAft>
                <a:spcPts val="600"/>
              </a:spcAft>
              <a:buSzPct val="100000"/>
              <a:buChar char="•"/>
            </a:pPr>
            <a:r>
              <a:rPr lang="en-US" sz="1400" dirty="0">
                <a:solidFill>
                  <a:schemeClr val="tx1"/>
                </a:solidFill>
              </a:rPr>
              <a:t>Manual test cases TC‑001 to TC‑014</a:t>
            </a:r>
            <a:endParaRPr lang="en-US" sz="1400" dirty="0"/>
          </a:p>
        </p:txBody>
      </p:sp>
      <p:pic>
        <p:nvPicPr>
          <p:cNvPr id="25" name="Image 3" descr="preencoded.png">    </p:cNvPr>
          <p:cNvPicPr>
            <a:picLocks noChangeAspect="1"/>
          </p:cNvPicPr>
          <p:nvPr/>
        </p:nvPicPr>
        <p:blipFill>
          <a:blip r:embed="rId4"/>
          <a:stretch>
            <a:fillRect/>
          </a:stretch>
        </p:blipFill>
        <p:spPr>
          <a:xfrm>
            <a:off x="9269501" y="4846320"/>
            <a:ext cx="274320" cy="274320"/>
          </a:xfrm>
          <a:prstGeom prst="rect">
            <a:avLst/>
          </a:prstGeom>
        </p:spPr>
      </p:pic>
      <p:sp>
        <p:nvSpPr>
          <p:cNvPr id="26" name="Text 20"/>
          <p:cNvSpPr txBox="1"/>
          <p:nvPr/>
        </p:nvSpPr>
        <p:spPr>
          <a:xfrm>
            <a:off x="9635261" y="4846320"/>
            <a:ext cx="1779194" cy="274320"/>
          </a:xfrm>
          <a:prstGeom prst="rect">
            <a:avLst/>
          </a:prstGeom>
          <a:noFill/>
          <a:ln/>
        </p:spPr>
        <p:txBody>
          <a:bodyPr wrap="square" lIns="0" tIns="0" rIns="0" bIns="0" rtlCol="0" anchor="ctr"/>
          <a:lstStyle/>
          <a:p>
            <a:pPr indent="0" marL="0">
              <a:buNone/>
            </a:pPr>
            <a:r>
              <a:rPr lang="en-US" sz="1300" dirty="0">
                <a:solidFill>
                  <a:schemeClr val="accent5"/>
                </a:solidFill>
                <a:latin typeface="Consolas" pitchFamily="34" charset="0"/>
                <a:ea typeface="Consolas" pitchFamily="34" charset="-122"/>
                <a:cs typeface="Consolas" pitchFamily="34" charset="-120"/>
              </a:rPr>
              <a:t>sihle588</a:t>
            </a:r>
            <a:endParaRPr lang="en-US" sz="1300" dirty="0"/>
          </a:p>
        </p:txBody>
      </p:sp>
      <p:sp>
        <p:nvSpPr>
          <p:cNvPr id="27" name="Shape 21"/>
          <p:cNvSpPr/>
          <p:nvPr/>
        </p:nvSpPr>
        <p:spPr>
          <a:xfrm>
            <a:off x="548640" y="5577840"/>
            <a:ext cx="11094415" cy="640080"/>
          </a:xfrm>
          <a:prstGeom prst="roundRect">
            <a:avLst>
              <a:gd name="adj" fmla="val 14286"/>
            </a:avLst>
          </a:prstGeom>
          <a:solidFill>
            <a:schemeClr val="bg2"/>
          </a:solidFill>
          <a:ln w="12700">
            <a:solidFill>
              <a:schemeClr val="bg2"/>
            </a:solidFill>
            <a:prstDash val="solid"/>
          </a:ln>
        </p:spPr>
      </p:sp>
      <p:sp>
        <p:nvSpPr>
          <p:cNvPr id="28" name="Text 22"/>
          <p:cNvSpPr txBox="1"/>
          <p:nvPr/>
        </p:nvSpPr>
        <p:spPr>
          <a:xfrm>
            <a:off x="822960" y="5577840"/>
            <a:ext cx="10545775" cy="640080"/>
          </a:xfrm>
          <a:prstGeom prst="rect">
            <a:avLst/>
          </a:prstGeom>
          <a:noFill/>
          <a:ln/>
        </p:spPr>
        <p:txBody>
          <a:bodyPr wrap="square" lIns="0" tIns="0" rIns="0" bIns="0" rtlCol="0" anchor="ctr"/>
          <a:lstStyle/>
          <a:p>
            <a:pPr indent="0" marL="0">
              <a:buNone/>
            </a:pPr>
            <a:r>
              <a:rPr lang="en-US" sz="1400" b="1" u="sng" dirty="0">
                <a:solidFill>
                  <a:schemeClr val="accent1"/>
                </a:solidFill>
                <a:hlinkClick r:id="rId5" invalidUrl="" action="" tgtFrame="" tooltip="" history="1" highlightClick="0" endSnd="0">
                  <a:extLst>
                    <a:ext uri="{A12FA001-AC4F-418D-AE19-62706E023703}">
                      <ahyp:hlinkClr xmlns:ahyp="http://schemas.microsoft.com/office/drawing/2018/hyperlinkcolor" val="tx"/>
                    </a:ext>
                  </a:extLst>
                </a:hlinkClick>
              </a:rPr>
              <a:t>github.com/Noobey32/TrackWIL</a:t>
            </a:r>
            <a:pPr indent="0" marL="0">
              <a:buNone/>
            </a:pPr>
            <a:r>
              <a:rPr lang="en-US" sz="1400" dirty="0">
                <a:solidFill>
                  <a:schemeClr val="tx1"/>
                </a:solidFill>
              </a:rPr>
              <a:t>   ·   a branch per task   ·   17 merged pull requests   ·   see the Individual Contribution Forms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1828800"/>
            <a:ext cx="7315200" cy="1097280"/>
          </a:xfrm>
          <a:prstGeom prst="rect">
            <a:avLst/>
          </a:prstGeom>
          <a:noFill/>
          <a:ln/>
        </p:spPr>
        <p:txBody>
          <a:bodyPr wrap="square" lIns="0" tIns="0" rIns="0" bIns="0" rtlCol="0" anchor="t"/>
          <a:lstStyle/>
          <a:p>
            <a:pPr indent="0" marL="0">
              <a:buNone/>
            </a:pPr>
            <a:r>
              <a:rPr lang="en-US" sz="6000" b="1" dirty="0">
                <a:solidFill>
                  <a:schemeClr val="bg1"/>
                </a:solidFill>
              </a:rPr>
              <a:t>Thank you</a:t>
            </a:r>
            <a:endParaRPr lang="en-US" sz="6000" dirty="0"/>
          </a:p>
        </p:txBody>
      </p:sp>
      <p:sp>
        <p:nvSpPr>
          <p:cNvPr id="3" name="Text 1"/>
          <p:cNvSpPr txBox="1"/>
          <p:nvPr/>
        </p:nvSpPr>
        <p:spPr>
          <a:xfrm>
            <a:off x="548640" y="2926080"/>
            <a:ext cx="7315200" cy="731520"/>
          </a:xfrm>
          <a:prstGeom prst="rect">
            <a:avLst/>
          </a:prstGeom>
          <a:noFill/>
          <a:ln/>
        </p:spPr>
        <p:txBody>
          <a:bodyPr wrap="square" lIns="0" tIns="0" rIns="0" bIns="0" rtlCol="0" anchor="t"/>
          <a:lstStyle/>
          <a:p>
            <a:pPr indent="0" marL="0">
              <a:buNone/>
            </a:pPr>
            <a:r>
              <a:rPr lang="en-US" sz="3200" dirty="0">
                <a:solidFill>
                  <a:schemeClr val="accent6"/>
                </a:solidFill>
              </a:rPr>
              <a:t>Questions?</a:t>
            </a:r>
            <a:endParaRPr lang="en-US" sz="3200" dirty="0"/>
          </a:p>
        </p:txBody>
      </p:sp>
      <p:sp>
        <p:nvSpPr>
          <p:cNvPr id="4" name="Text 2"/>
          <p:cNvSpPr txBox="1"/>
          <p:nvPr/>
        </p:nvSpPr>
        <p:spPr>
          <a:xfrm>
            <a:off x="548640" y="4114800"/>
            <a:ext cx="9144000" cy="365760"/>
          </a:xfrm>
          <a:prstGeom prst="rect">
            <a:avLst/>
          </a:prstGeom>
          <a:noFill/>
          <a:ln/>
        </p:spPr>
        <p:txBody>
          <a:bodyPr wrap="square" lIns="0" tIns="0" rIns="0" bIns="0" rtlCol="0" anchor="t"/>
          <a:lstStyle/>
          <a:p>
            <a:pPr indent="0" marL="0">
              <a:buNone/>
            </a:pPr>
            <a:r>
              <a:rPr lang="en-US" sz="1600" dirty="0">
                <a:solidFill>
                  <a:schemeClr val="bg1"/>
                </a:solidFill>
              </a:rPr>
              <a:t>Willem (Gedion) Basson  ·  Moegammad Green  ·  Dylan Shepard  ·  Sihle Kayise</a:t>
            </a:r>
            <a:endParaRPr lang="en-US" sz="1600" dirty="0"/>
          </a:p>
        </p:txBody>
      </p:sp>
      <p:pic>
        <p:nvPicPr>
          <p:cNvPr id="5" name="Image 0" descr="preencoded.png">    </p:cNvPr>
          <p:cNvPicPr>
            <a:picLocks noChangeAspect="1"/>
          </p:cNvPicPr>
          <p:nvPr/>
        </p:nvPicPr>
        <p:blipFill>
          <a:blip r:embed="rId1"/>
          <a:stretch>
            <a:fillRect/>
          </a:stretch>
        </p:blipFill>
        <p:spPr>
          <a:xfrm>
            <a:off x="548640" y="4709160"/>
            <a:ext cx="292608" cy="292608"/>
          </a:xfrm>
          <a:prstGeom prst="rect">
            <a:avLst/>
          </a:prstGeom>
        </p:spPr>
      </p:pic>
      <p:sp>
        <p:nvSpPr>
          <p:cNvPr id="6" name="Text 3">
            <a:hlinkClick r:id="rId2" tooltip=""/>
          </p:cNvPr>
          <p:cNvSpPr txBox="1"/>
          <p:nvPr/>
        </p:nvSpPr>
        <p:spPr>
          <a:xfrm>
            <a:off x="960120" y="4709160"/>
            <a:ext cx="4572000" cy="292608"/>
          </a:xfrm>
          <a:prstGeom prst="rect">
            <a:avLst/>
          </a:prstGeom>
          <a:noFill/>
          <a:ln/>
        </p:spPr>
        <p:txBody>
          <a:bodyPr wrap="square" lIns="0" tIns="0" rIns="0" bIns="0" rtlCol="0" anchor="ctr"/>
          <a:lstStyle/>
          <a:p>
            <a:pPr indent="0" marL="0">
              <a:buNone/>
            </a:pPr>
            <a:r>
              <a:rPr lang="en-US" sz="1400" u="sng" dirty="0">
                <a:solidFill>
                  <a:schemeClr val="bg1"/>
                </a:solidFill>
                <a:hlinkClick r:id="rId2" invalidUrl="" action="" tgtFrame="" tooltip="" history="1" highlightClick="0" endSnd="0">
                  <a:extLst>
                    <a:ext uri="{A12FA001-AC4F-418D-AE19-62706E023703}">
                      <ahyp:hlinkClr xmlns:ahyp="http://schemas.microsoft.com/office/drawing/2018/hyperlinkcolor" val="tx"/>
                    </a:ext>
                  </a:extLst>
                </a:hlinkClick>
              </a:rPr>
              <a:t>github.com/Noobey32/TrackWIL</a:t>
            </a:r>
            <a:endParaRPr lang="en-US" sz="1400" dirty="0"/>
          </a:p>
        </p:txBody>
      </p:sp>
      <p:sp>
        <p:nvSpPr>
          <p:cNvPr id="7" name="Shape 4"/>
          <p:cNvSpPr/>
          <p:nvPr/>
        </p:nvSpPr>
        <p:spPr>
          <a:xfrm>
            <a:off x="8778240" y="1737360"/>
            <a:ext cx="2377440" cy="2377440"/>
          </a:xfrm>
          <a:prstGeom prst="ellipse">
            <a:avLst/>
          </a:prstGeom>
          <a:solidFill>
            <a:schemeClr val="accent1"/>
          </a:solidFill>
          <a:ln/>
        </p:spPr>
      </p:sp>
      <p:pic>
        <p:nvPicPr>
          <p:cNvPr id="8" name="Image 1" descr="preencoded.png">    </p:cNvPr>
          <p:cNvPicPr>
            <a:picLocks noChangeAspect="1"/>
          </p:cNvPicPr>
          <p:nvPr/>
        </p:nvPicPr>
        <p:blipFill>
          <a:blip r:embed="rId3"/>
          <a:stretch>
            <a:fillRect/>
          </a:stretch>
        </p:blipFill>
        <p:spPr>
          <a:xfrm>
            <a:off x="9372600" y="2331720"/>
            <a:ext cx="1188720" cy="11887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accent5"/>
                </a:solidFill>
              </a:rPr>
              <a:t>Backup  </a:t>
            </a:r>
            <a:pPr indent="0" marL="0">
              <a:buNone/>
            </a:pPr>
            <a:r>
              <a:rPr lang="en-US" sz="3400" b="1" dirty="0">
                <a:solidFill>
                  <a:schemeClr val="tx2"/>
                </a:solidFill>
              </a:rPr>
              <a:t>Student logbook and new entry</a:t>
            </a:r>
            <a:endParaRPr lang="en-US" sz="3400" dirty="0"/>
          </a:p>
        </p:txBody>
      </p:sp>
      <p:sp>
        <p:nvSpPr>
          <p:cNvPr id="4" name="Shape 1"/>
          <p:cNvSpPr/>
          <p:nvPr/>
        </p:nvSpPr>
        <p:spPr>
          <a:xfrm>
            <a:off x="548640" y="1344168"/>
            <a:ext cx="5541264" cy="4672584"/>
          </a:xfrm>
          <a:prstGeom prst="roundRect">
            <a:avLst>
              <a:gd name="adj" fmla="val 1957"/>
            </a:avLst>
          </a:prstGeom>
          <a:solidFill>
            <a:schemeClr val="bg1"/>
          </a:solidFill>
          <a:ln w="12700">
            <a:solidFill>
              <a:srgbClr val="D5E3DB"/>
            </a:solidFill>
            <a:prstDash val="solid"/>
          </a:ln>
          <a:effectLst>
            <a:outerShdw sx="100000" sy="100000" kx="0" ky="0" algn="bl" rotWithShape="0" blurRad="101600" dist="25400" dir="5400000">
              <a:srgbClr val="000000">
                <a:alpha val="12000"/>
              </a:srgbClr>
            </a:outerShdw>
          </a:effectLst>
        </p:spPr>
      </p:sp>
      <p:pic>
        <p:nvPicPr>
          <p:cNvPr id="5" name="Image 0" descr="04_student_dashboard.png">    </p:cNvPr>
          <p:cNvPicPr>
            <a:picLocks noChangeAspect="1"/>
          </p:cNvPicPr>
          <p:nvPr/>
        </p:nvPicPr>
        <p:blipFill>
          <a:blip r:embed="rId1"/>
          <a:srcRect l="0" r="0" t="0" b="565"/>
          <a:stretch/>
        </p:blipFill>
        <p:spPr>
          <a:xfrm>
            <a:off x="621792" y="1417320"/>
            <a:ext cx="5394960" cy="4526280"/>
          </a:xfrm>
          <a:prstGeom prst="rect">
            <a:avLst/>
          </a:prstGeom>
        </p:spPr>
      </p:pic>
      <p:sp>
        <p:nvSpPr>
          <p:cNvPr id="6" name="Shape 2"/>
          <p:cNvSpPr/>
          <p:nvPr/>
        </p:nvSpPr>
        <p:spPr>
          <a:xfrm>
            <a:off x="6281928" y="1344168"/>
            <a:ext cx="5358384" cy="2611184"/>
          </a:xfrm>
          <a:prstGeom prst="roundRect">
            <a:avLst>
              <a:gd name="adj" fmla="val 3502"/>
            </a:avLst>
          </a:prstGeom>
          <a:solidFill>
            <a:schemeClr val="bg1"/>
          </a:solidFill>
          <a:ln w="12700">
            <a:solidFill>
              <a:srgbClr val="D5E3DB"/>
            </a:solidFill>
            <a:prstDash val="solid"/>
          </a:ln>
          <a:effectLst>
            <a:outerShdw sx="100000" sy="100000" kx="0" ky="0" algn="bl" rotWithShape="0" blurRad="101600" dist="25400" dir="5400000">
              <a:srgbClr val="000000">
                <a:alpha val="12000"/>
              </a:srgbClr>
            </a:outerShdw>
          </a:effectLst>
        </p:spPr>
      </p:sp>
      <p:pic>
        <p:nvPicPr>
          <p:cNvPr id="7" name="Image 1" descr="05_entry_pending_with_link.png">    </p:cNvPr>
          <p:cNvPicPr>
            <a:picLocks noChangeAspect="1"/>
          </p:cNvPicPr>
          <p:nvPr/>
        </p:nvPicPr>
        <p:blipFill>
          <a:blip r:embed="rId2"/>
          <a:stretch>
            <a:fillRect/>
          </a:stretch>
        </p:blipFill>
        <p:spPr>
          <a:xfrm>
            <a:off x="6355080" y="1417320"/>
            <a:ext cx="5212080" cy="2464880"/>
          </a:xfrm>
          <a:prstGeom prst="rect">
            <a:avLst/>
          </a:prstGeom>
        </p:spPr>
      </p:pic>
      <p:sp>
        <p:nvSpPr>
          <p:cNvPr id="8" name="Text 3"/>
          <p:cNvSpPr txBox="1"/>
          <p:nvPr/>
        </p:nvSpPr>
        <p:spPr>
          <a:xfrm>
            <a:off x="6355080" y="4069080"/>
            <a:ext cx="5212080" cy="365760"/>
          </a:xfrm>
          <a:prstGeom prst="rect">
            <a:avLst/>
          </a:prstGeom>
          <a:noFill/>
          <a:ln/>
        </p:spPr>
        <p:txBody>
          <a:bodyPr wrap="square" lIns="0" tIns="0" rIns="0" bIns="0" rtlCol="0" anchor="t"/>
          <a:lstStyle/>
          <a:p>
            <a:pPr indent="0" marL="0">
              <a:buNone/>
            </a:pPr>
            <a:r>
              <a:rPr lang="en-US" sz="1400" dirty="0">
                <a:solidFill>
                  <a:schemeClr val="accent5"/>
                </a:solidFill>
              </a:rPr>
              <a:t>The student copies the link and sends it to the mentor.</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accent5"/>
                </a:solidFill>
              </a:rPr>
              <a:t>Backup  </a:t>
            </a:r>
            <a:pPr indent="0" marL="0">
              <a:buNone/>
            </a:pPr>
            <a:r>
              <a:rPr lang="en-US" sz="3400" b="1" dirty="0">
                <a:solidFill>
                  <a:schemeClr val="tx2"/>
                </a:solidFill>
              </a:rPr>
              <a:t>Mentor verification, no account</a:t>
            </a:r>
            <a:endParaRPr lang="en-US" sz="3400" dirty="0"/>
          </a:p>
        </p:txBody>
      </p:sp>
      <p:sp>
        <p:nvSpPr>
          <p:cNvPr id="4" name="Shape 1"/>
          <p:cNvSpPr/>
          <p:nvPr/>
        </p:nvSpPr>
        <p:spPr>
          <a:xfrm>
            <a:off x="548640" y="1344168"/>
            <a:ext cx="5084064" cy="4597006"/>
          </a:xfrm>
          <a:prstGeom prst="roundRect">
            <a:avLst>
              <a:gd name="adj" fmla="val 1989"/>
            </a:avLst>
          </a:prstGeom>
          <a:solidFill>
            <a:schemeClr val="bg1"/>
          </a:solidFill>
          <a:ln w="12700">
            <a:solidFill>
              <a:srgbClr val="D5E3DB"/>
            </a:solidFill>
            <a:prstDash val="solid"/>
          </a:ln>
          <a:effectLst>
            <a:outerShdw sx="100000" sy="100000" kx="0" ky="0" algn="bl" rotWithShape="0" blurRad="101600" dist="25400" dir="5400000">
              <a:srgbClr val="000000">
                <a:alpha val="12000"/>
              </a:srgbClr>
            </a:outerShdw>
          </a:effectLst>
        </p:spPr>
      </p:sp>
      <p:pic>
        <p:nvPicPr>
          <p:cNvPr id="5" name="Image 0" descr="07_mentor_verify.png">    </p:cNvPr>
          <p:cNvPicPr>
            <a:picLocks noChangeAspect="1"/>
          </p:cNvPicPr>
          <p:nvPr/>
        </p:nvPicPr>
        <p:blipFill>
          <a:blip r:embed="rId1"/>
          <a:stretch>
            <a:fillRect/>
          </a:stretch>
        </p:blipFill>
        <p:spPr>
          <a:xfrm>
            <a:off x="621792" y="1417320"/>
            <a:ext cx="4937760" cy="4450702"/>
          </a:xfrm>
          <a:prstGeom prst="rect">
            <a:avLst/>
          </a:prstGeom>
        </p:spPr>
      </p:pic>
      <p:sp>
        <p:nvSpPr>
          <p:cNvPr id="6" name="Shape 2"/>
          <p:cNvSpPr/>
          <p:nvPr/>
        </p:nvSpPr>
        <p:spPr>
          <a:xfrm>
            <a:off x="6510528" y="1344168"/>
            <a:ext cx="4626864" cy="4512951"/>
          </a:xfrm>
          <a:prstGeom prst="roundRect">
            <a:avLst>
              <a:gd name="adj" fmla="val 2026"/>
            </a:avLst>
          </a:prstGeom>
          <a:solidFill>
            <a:schemeClr val="bg1"/>
          </a:solidFill>
          <a:ln w="12700">
            <a:solidFill>
              <a:srgbClr val="D5E3DB"/>
            </a:solidFill>
            <a:prstDash val="solid"/>
          </a:ln>
          <a:effectLst>
            <a:outerShdw sx="100000" sy="100000" kx="0" ky="0" algn="bl" rotWithShape="0" blurRad="101600" dist="25400" dir="5400000">
              <a:srgbClr val="000000">
                <a:alpha val="12000"/>
              </a:srgbClr>
            </a:outerShdw>
          </a:effectLst>
        </p:spPr>
      </p:sp>
      <p:pic>
        <p:nvPicPr>
          <p:cNvPr id="7" name="Image 1" descr="08_mentor_link_used.png">    </p:cNvPr>
          <p:cNvPicPr>
            <a:picLocks noChangeAspect="1"/>
          </p:cNvPicPr>
          <p:nvPr/>
        </p:nvPicPr>
        <p:blipFill>
          <a:blip r:embed="rId2"/>
          <a:stretch>
            <a:fillRect/>
          </a:stretch>
        </p:blipFill>
        <p:spPr>
          <a:xfrm>
            <a:off x="6583680" y="1417320"/>
            <a:ext cx="4480560" cy="4366647"/>
          </a:xfrm>
          <a:prstGeom prst="rect">
            <a:avLst/>
          </a:prstGeom>
        </p:spPr>
      </p:pic>
      <p:sp>
        <p:nvSpPr>
          <p:cNvPr id="8" name="Text 3"/>
          <p:cNvSpPr txBox="1"/>
          <p:nvPr/>
        </p:nvSpPr>
        <p:spPr>
          <a:xfrm>
            <a:off x="6583680" y="5897880"/>
            <a:ext cx="5029200" cy="365760"/>
          </a:xfrm>
          <a:prstGeom prst="rect">
            <a:avLst/>
          </a:prstGeom>
          <a:noFill/>
          <a:ln/>
        </p:spPr>
        <p:txBody>
          <a:bodyPr wrap="square" lIns="0" tIns="0" rIns="0" bIns="0" rtlCol="0" anchor="t"/>
          <a:lstStyle/>
          <a:p>
            <a:pPr indent="0" marL="0">
              <a:buNone/>
            </a:pPr>
            <a:r>
              <a:rPr lang="en-US" sz="1400" dirty="0">
                <a:solidFill>
                  <a:schemeClr val="accent5"/>
                </a:solidFill>
              </a:rPr>
              <a:t>Second visit: the link was already used, nothing changes.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accent5"/>
                </a:solidFill>
              </a:rPr>
              <a:t>Backup  </a:t>
            </a:r>
            <a:pPr indent="0" marL="0">
              <a:buNone/>
            </a:pPr>
            <a:r>
              <a:rPr lang="en-US" sz="3400" b="1" dirty="0">
                <a:solidFill>
                  <a:schemeClr val="tx2"/>
                </a:solidFill>
              </a:rPr>
              <a:t>Coordinator and lecturer dashboard</a:t>
            </a:r>
            <a:endParaRPr lang="en-US" sz="3400" dirty="0"/>
          </a:p>
        </p:txBody>
      </p:sp>
      <p:sp>
        <p:nvSpPr>
          <p:cNvPr id="4" name="Shape 1"/>
          <p:cNvSpPr/>
          <p:nvPr/>
        </p:nvSpPr>
        <p:spPr>
          <a:xfrm>
            <a:off x="993496" y="1389888"/>
            <a:ext cx="10204704" cy="4683062"/>
          </a:xfrm>
          <a:prstGeom prst="roundRect">
            <a:avLst>
              <a:gd name="adj" fmla="val 1953"/>
            </a:avLst>
          </a:prstGeom>
          <a:solidFill>
            <a:schemeClr val="bg1"/>
          </a:solidFill>
          <a:ln w="12700">
            <a:solidFill>
              <a:srgbClr val="D5E3DB"/>
            </a:solidFill>
            <a:prstDash val="solid"/>
          </a:ln>
          <a:effectLst>
            <a:outerShdw sx="100000" sy="100000" kx="0" ky="0" algn="bl" rotWithShape="0" blurRad="101600" dist="25400" dir="5400000">
              <a:srgbClr val="000000">
                <a:alpha val="12000"/>
              </a:srgbClr>
            </a:outerShdw>
          </a:effectLst>
        </p:spPr>
      </p:sp>
      <p:pic>
        <p:nvPicPr>
          <p:cNvPr id="5" name="Image 0" descr="09_coordinator_dashboard.png">    </p:cNvPr>
          <p:cNvPicPr>
            <a:picLocks noChangeAspect="1"/>
          </p:cNvPicPr>
          <p:nvPr/>
        </p:nvPicPr>
        <p:blipFill>
          <a:blip r:embed="rId1"/>
          <a:stretch>
            <a:fillRect/>
          </a:stretch>
        </p:blipFill>
        <p:spPr>
          <a:xfrm>
            <a:off x="1066648" y="1463040"/>
            <a:ext cx="10058400" cy="4536758"/>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accent5"/>
                </a:solidFill>
              </a:rPr>
              <a:t>Backup  </a:t>
            </a:r>
            <a:pPr indent="0" marL="0">
              <a:buNone/>
            </a:pPr>
            <a:r>
              <a:rPr lang="en-US" sz="3400" b="1" dirty="0">
                <a:solidFill>
                  <a:schemeClr val="tx2"/>
                </a:solidFill>
              </a:rPr>
              <a:t>Student profile and WIL completed</a:t>
            </a:r>
            <a:endParaRPr lang="en-US" sz="3400" dirty="0"/>
          </a:p>
        </p:txBody>
      </p:sp>
      <p:sp>
        <p:nvSpPr>
          <p:cNvPr id="4" name="Shape 1"/>
          <p:cNvSpPr/>
          <p:nvPr/>
        </p:nvSpPr>
        <p:spPr>
          <a:xfrm>
            <a:off x="548640" y="1344168"/>
            <a:ext cx="5541264" cy="4672584"/>
          </a:xfrm>
          <a:prstGeom prst="roundRect">
            <a:avLst>
              <a:gd name="adj" fmla="val 1957"/>
            </a:avLst>
          </a:prstGeom>
          <a:solidFill>
            <a:schemeClr val="bg1"/>
          </a:solidFill>
          <a:ln w="12700">
            <a:solidFill>
              <a:srgbClr val="D5E3DB"/>
            </a:solidFill>
            <a:prstDash val="solid"/>
          </a:ln>
          <a:effectLst>
            <a:outerShdw sx="100000" sy="100000" kx="0" ky="0" algn="bl" rotWithShape="0" blurRad="101600" dist="25400" dir="5400000">
              <a:srgbClr val="000000">
                <a:alpha val="12000"/>
              </a:srgbClr>
            </a:outerShdw>
          </a:effectLst>
        </p:spPr>
      </p:sp>
      <p:pic>
        <p:nvPicPr>
          <p:cNvPr id="5" name="Image 0" descr="13_coordinator_student_profile.png">    </p:cNvPr>
          <p:cNvPicPr>
            <a:picLocks noChangeAspect="1"/>
          </p:cNvPicPr>
          <p:nvPr/>
        </p:nvPicPr>
        <p:blipFill>
          <a:blip r:embed="rId1"/>
          <a:srcRect l="0" r="0" t="0" b="4457"/>
          <a:stretch/>
        </p:blipFill>
        <p:spPr>
          <a:xfrm>
            <a:off x="621792" y="1417320"/>
            <a:ext cx="5394960" cy="4526280"/>
          </a:xfrm>
          <a:prstGeom prst="rect">
            <a:avLst/>
          </a:prstGeom>
        </p:spPr>
      </p:pic>
      <p:sp>
        <p:nvSpPr>
          <p:cNvPr id="6" name="Shape 2"/>
          <p:cNvSpPr/>
          <p:nvPr/>
        </p:nvSpPr>
        <p:spPr>
          <a:xfrm>
            <a:off x="6281928" y="1344168"/>
            <a:ext cx="5358384" cy="2089976"/>
          </a:xfrm>
          <a:prstGeom prst="roundRect">
            <a:avLst>
              <a:gd name="adj" fmla="val 4375"/>
            </a:avLst>
          </a:prstGeom>
          <a:solidFill>
            <a:schemeClr val="bg1"/>
          </a:solidFill>
          <a:ln w="12700">
            <a:solidFill>
              <a:srgbClr val="D5E3DB"/>
            </a:solidFill>
            <a:prstDash val="solid"/>
          </a:ln>
          <a:effectLst>
            <a:outerShdw sx="100000" sy="100000" kx="0" ky="0" algn="bl" rotWithShape="0" blurRad="101600" dist="25400" dir="5400000">
              <a:srgbClr val="000000">
                <a:alpha val="12000"/>
              </a:srgbClr>
            </a:outerShdw>
          </a:effectLst>
        </p:spPr>
      </p:sp>
      <p:pic>
        <p:nvPicPr>
          <p:cNvPr id="7" name="Image 1" descr="14_wil_completed.png">    </p:cNvPr>
          <p:cNvPicPr>
            <a:picLocks noChangeAspect="1"/>
          </p:cNvPicPr>
          <p:nvPr/>
        </p:nvPicPr>
        <p:blipFill>
          <a:blip r:embed="rId2"/>
          <a:stretch>
            <a:fillRect/>
          </a:stretch>
        </p:blipFill>
        <p:spPr>
          <a:xfrm>
            <a:off x="6355080" y="1417320"/>
            <a:ext cx="5212080" cy="1943672"/>
          </a:xfrm>
          <a:prstGeom prst="rect">
            <a:avLst/>
          </a:prstGeom>
        </p:spPr>
      </p:pic>
      <p:sp>
        <p:nvSpPr>
          <p:cNvPr id="8" name="Text 3"/>
          <p:cNvSpPr txBox="1"/>
          <p:nvPr/>
        </p:nvSpPr>
        <p:spPr>
          <a:xfrm>
            <a:off x="6355080" y="3566160"/>
            <a:ext cx="5212080" cy="365760"/>
          </a:xfrm>
          <a:prstGeom prst="rect">
            <a:avLst/>
          </a:prstGeom>
          <a:noFill/>
          <a:ln/>
        </p:spPr>
        <p:txBody>
          <a:bodyPr wrap="square" lIns="0" tIns="0" rIns="0" bIns="0" rtlCol="0" anchor="t"/>
          <a:lstStyle/>
          <a:p>
            <a:pPr indent="0" marL="0">
              <a:buNone/>
            </a:pPr>
            <a:r>
              <a:rPr lang="en-US" sz="1400" dirty="0">
                <a:solidFill>
                  <a:schemeClr val="accent5"/>
                </a:solidFill>
              </a:rPr>
              <a:t>At 200 of 200 verified hours the placement is completed and locked.</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accent5"/>
                </a:solidFill>
              </a:rPr>
              <a:t>Backup  </a:t>
            </a:r>
            <a:pPr indent="0" marL="0">
              <a:buNone/>
            </a:pPr>
            <a:r>
              <a:rPr lang="en-US" sz="3400" b="1" dirty="0">
                <a:solidFill>
                  <a:schemeClr val="tx2"/>
                </a:solidFill>
              </a:rPr>
              <a:t>Entity-relationship diagram</a:t>
            </a:r>
            <a:endParaRPr lang="en-US" sz="3400" dirty="0"/>
          </a:p>
        </p:txBody>
      </p:sp>
      <p:sp>
        <p:nvSpPr>
          <p:cNvPr id="4" name="Shape 1"/>
          <p:cNvSpPr/>
          <p:nvPr/>
        </p:nvSpPr>
        <p:spPr>
          <a:xfrm>
            <a:off x="3318590" y="1298448"/>
            <a:ext cx="5554516" cy="4992624"/>
          </a:xfrm>
          <a:prstGeom prst="roundRect">
            <a:avLst>
              <a:gd name="adj" fmla="val 1832"/>
            </a:avLst>
          </a:prstGeom>
          <a:solidFill>
            <a:schemeClr val="bg1"/>
          </a:solidFill>
          <a:ln w="12700">
            <a:solidFill>
              <a:srgbClr val="D5E3DB"/>
            </a:solidFill>
            <a:prstDash val="solid"/>
          </a:ln>
          <a:effectLst>
            <a:outerShdw sx="100000" sy="100000" kx="0" ky="0" algn="bl" rotWithShape="0" blurRad="101600" dist="25400" dir="5400000">
              <a:srgbClr val="000000">
                <a:alpha val="12000"/>
              </a:srgbClr>
            </a:outerShdw>
          </a:effectLst>
        </p:spPr>
      </p:sp>
      <p:pic>
        <p:nvPicPr>
          <p:cNvPr id="5" name="Image 0" descr="ERD.png">    </p:cNvPr>
          <p:cNvPicPr>
            <a:picLocks noChangeAspect="1"/>
          </p:cNvPicPr>
          <p:nvPr/>
        </p:nvPicPr>
        <p:blipFill>
          <a:blip r:embed="rId1"/>
          <a:stretch>
            <a:fillRect/>
          </a:stretch>
        </p:blipFill>
        <p:spPr>
          <a:xfrm>
            <a:off x="3391742" y="1371600"/>
            <a:ext cx="5408212" cy="484632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accent5"/>
                </a:solidFill>
              </a:rPr>
              <a:t>Backup  </a:t>
            </a:r>
            <a:pPr indent="0" marL="0">
              <a:buNone/>
            </a:pPr>
            <a:r>
              <a:rPr lang="en-US" sz="3400" b="1" dirty="0">
                <a:solidFill>
                  <a:schemeClr val="tx2"/>
                </a:solidFill>
              </a:rPr>
              <a:t>Verification sequence</a:t>
            </a:r>
            <a:endParaRPr lang="en-US" sz="3400" dirty="0"/>
          </a:p>
        </p:txBody>
      </p:sp>
      <p:sp>
        <p:nvSpPr>
          <p:cNvPr id="4" name="Shape 1"/>
          <p:cNvSpPr/>
          <p:nvPr/>
        </p:nvSpPr>
        <p:spPr>
          <a:xfrm>
            <a:off x="3543149" y="1298448"/>
            <a:ext cx="5105396" cy="4992624"/>
          </a:xfrm>
          <a:prstGeom prst="roundRect">
            <a:avLst>
              <a:gd name="adj" fmla="val 1832"/>
            </a:avLst>
          </a:prstGeom>
          <a:solidFill>
            <a:schemeClr val="bg1"/>
          </a:solidFill>
          <a:ln w="12700">
            <a:solidFill>
              <a:srgbClr val="D5E3DB"/>
            </a:solidFill>
            <a:prstDash val="solid"/>
          </a:ln>
          <a:effectLst>
            <a:outerShdw sx="100000" sy="100000" kx="0" ky="0" algn="bl" rotWithShape="0" blurRad="101600" dist="25400" dir="5400000">
              <a:srgbClr val="000000">
                <a:alpha val="12000"/>
              </a:srgbClr>
            </a:outerShdw>
          </a:effectLst>
        </p:spPr>
      </p:sp>
      <p:pic>
        <p:nvPicPr>
          <p:cNvPr id="5" name="Image 0" descr="Sequence.png">    </p:cNvPr>
          <p:cNvPicPr>
            <a:picLocks noChangeAspect="1"/>
          </p:cNvPicPr>
          <p:nvPr/>
        </p:nvPicPr>
        <p:blipFill>
          <a:blip r:embed="rId1"/>
          <a:stretch>
            <a:fillRect/>
          </a:stretch>
        </p:blipFill>
        <p:spPr>
          <a:xfrm>
            <a:off x="3616301" y="1371600"/>
            <a:ext cx="4959092" cy="484632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TrackWIL">
  <a:themeElements>
    <a:clrScheme name="TrackWIL">
      <a:dk1>
        <a:srgbClr val="1C2B25"/>
      </a:dk1>
      <a:lt1>
        <a:srgbClr val="FFFFFF"/>
      </a:lt1>
      <a:dk2>
        <a:srgbClr val="0E3B2E"/>
      </a:dk2>
      <a:lt2>
        <a:srgbClr val="EEF5F1"/>
      </a:lt2>
      <a:accent1>
        <a:srgbClr val="0B7A55"/>
      </a:accent1>
      <a:accent2>
        <a:srgbClr val="C98A0E"/>
      </a:accent2>
      <a:accent3>
        <a:srgbClr val="C8453B"/>
      </a:accent3>
      <a:accent4>
        <a:srgbClr val="2F6F8F"/>
      </a:accent4>
      <a:accent5>
        <a:srgbClr val="5F6B66"/>
      </a:accent5>
      <a:accent6>
        <a:srgbClr val="9FD5BC"/>
      </a:accent6>
      <a:hlink>
        <a:srgbClr val="0B7A55"/>
      </a:hlink>
      <a:folHlink>
        <a:srgbClr val="2F6F8F"/>
      </a:folHlink>
    </a:clrScheme>
    <a:fontScheme name="TrackWI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CTU Training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TrackWIL: Final Project Presentation</dc:title>
  <dc:subject>PptxGenJS Presentation</dc:subject>
  <dc:creator>Group 3</dc:creator>
  <cp:lastModifiedBy>Group 3</cp:lastModifiedBy>
  <cp:revision>1</cp:revision>
  <dcterms:created xsi:type="dcterms:W3CDTF">2026-10-28T08:39:07Z</dcterms:created>
  <dcterms:modified xsi:type="dcterms:W3CDTF">2026-10-28T08:39:07Z</dcterms:modified>
</cp:coreProperties>
</file>